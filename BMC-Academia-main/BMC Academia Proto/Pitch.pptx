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DM Mono Medium"/>
      <p:regular r:id="rId201314"/>
    </p:embeddedFont>
    <p:embeddedFont>
      <p:font typeface="Familjen Grotesk"/>
      <p:regular r:id="rId201315"/>
    </p:embeddedFont>
    <p:embeddedFont>
      <p:font typeface="Familjen Grotesk SemiBold"/>
      <p:regular r:id="rId201316"/>
    </p:embeddedFont>
    <p:embeddedFont>
      <p:font typeface="Familjen Grotesk Bold"/>
      <p:regular r:id="rId201317"/>
    </p:embeddedFont>
    <p:embeddedFont>
      <p:font typeface="Krona One"/>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to BMC and our honored organizers. Thank you to the leadership and organizers for giving us this platform. Today we introduce BMC Academia, our vision for a Next-Gen Student Academic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and pause before revealing the answer. Time is the resource we cannot replenish. How students use it shapes both their academic performance and their opportunity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knowledge. Across faculties, students face deeper courses and a growing volume of learning resources. The opportunity to learn is expanding, but the time available in a semester remains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appears again, this time as the learner's limitation. Students must work through dense materials within tight semester timelines. Filtering what matters consumes time that could otherwise go into understanding and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equation captures the need behind BMC Academia: exponential knowledge plus finite time creates a need for high-efficiency learning. Our aim is one unified academic platform for BMC students across all faculties.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features. Concise notes support understanding, flashcards support active recall, and past year questions with solutions support exam preparation. Custom resource ingestion extends the toolkit to the materials students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future-facing capabilities, not a claim of completed deployment. Recording could help absent students access lectures, transcription could make recordings easier to revise, and a focus leaderboard could recognize sustained study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team details were supplied. These are clearly marked profile placeholders, not a statement of team size or responsibilities. Replace the slots with confirmed information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organizers and audience, then invite questions. Welcome feedback from judges, faculty, and students on the proposed features and the learning challenges that deserve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gd name="adj" fmla="val 2500"/>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image" Target="../media/image-8-4.jpe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28594" y="228600"/>
            <a:ext cx="7721407" cy="6400800"/>
          </a:xfrm>
          <a:prstGeom prst="roundRect">
            <a:avLst>
              <a:gd name="adj" fmla="val 2679"/>
            </a:avLst>
          </a:prstGeom>
          <a:solidFill>
            <a:srgbClr val="0B2345"/>
          </a:solidFill>
          <a:ln/>
        </p:spPr>
      </p:sp>
      <p:sp>
        <p:nvSpPr>
          <p:cNvPr id="3" name="Text 1"/>
          <p:cNvSpPr/>
          <p:nvPr/>
        </p:nvSpPr>
        <p:spPr>
          <a:xfrm>
            <a:off x="634984" y="635000"/>
            <a:ext cx="7315017"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FFFFFF"/>
                </a:solidFill>
                <a:latin typeface="DM Mono Medium" pitchFamily="34" charset="0"/>
                <a:ea typeface="DM Mono Medium" pitchFamily="34" charset="-122"/>
                <a:cs typeface="DM Mono Medium" pitchFamily="34" charset="-120"/>
              </a:rPr>
              <a:t>BMC ACADEMIA</a:t>
            </a:r>
            <a:endParaRPr lang="en-US" sz="1150" dirty="0"/>
          </a:p>
        </p:txBody>
      </p:sp>
      <p:sp>
        <p:nvSpPr>
          <p:cNvPr id="4" name="Text 2"/>
          <p:cNvSpPr/>
          <p:nvPr/>
        </p:nvSpPr>
        <p:spPr>
          <a:xfrm>
            <a:off x="634984" y="2382838"/>
            <a:ext cx="6908627" cy="1481137"/>
          </a:xfrm>
          <a:prstGeom prst="rect">
            <a:avLst/>
          </a:prstGeom>
          <a:noFill/>
          <a:ln/>
        </p:spPr>
        <p:txBody>
          <a:bodyPr wrap="square" lIns="0" tIns="0" rIns="0" bIns="0" rtlCol="0" anchor="t">
            <a:normAutofit/>
          </a:bodyPr>
          <a:lstStyle/>
          <a:p>
            <a:pPr algn="l" indent="0" marL="0">
              <a:lnSpc>
                <a:spcPct val="90000"/>
              </a:lnSpc>
              <a:buNone/>
            </a:pPr>
            <a:r>
              <a:rPr lang="en-US" sz="3600" spc="-72" kern="100" dirty="0">
                <a:solidFill>
                  <a:srgbClr val="FFFFFF"/>
                </a:solidFill>
                <a:latin typeface="Krona One" pitchFamily="34" charset="0"/>
                <a:ea typeface="Krona One" pitchFamily="34" charset="-122"/>
                <a:cs typeface="Krona One" pitchFamily="34" charset="-120"/>
              </a:rPr>
              <a:t>Good Afternoon</a:t>
            </a:r>
            <a:endParaRPr lang="en-US" sz="3600" dirty="0"/>
          </a:p>
          <a:p>
            <a:pPr algn="l" indent="0" marL="0">
              <a:lnSpc>
                <a:spcPct val="90000"/>
              </a:lnSpc>
              <a:buNone/>
            </a:pPr>
            <a:r>
              <a:rPr lang="en-US" sz="3600" spc="-72" kern="100" dirty="0">
                <a:solidFill>
                  <a:srgbClr val="FFFFFF"/>
                </a:solidFill>
                <a:latin typeface="Krona One" pitchFamily="34" charset="0"/>
                <a:ea typeface="Krona One" pitchFamily="34" charset="-122"/>
                <a:cs typeface="Krona One" pitchFamily="34" charset="-120"/>
              </a:rPr>
              <a:t>BMC &amp; Honored Organizers</a:t>
            </a:r>
            <a:endParaRPr lang="en-US" sz="3600" dirty="0"/>
          </a:p>
        </p:txBody>
      </p:sp>
      <p:sp>
        <p:nvSpPr>
          <p:cNvPr id="5" name="Text 3"/>
          <p:cNvSpPr/>
          <p:nvPr/>
        </p:nvSpPr>
        <p:spPr>
          <a:xfrm>
            <a:off x="634984" y="4060825"/>
            <a:ext cx="7315017"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Familjen Grotesk" pitchFamily="34" charset="0"/>
                <a:ea typeface="Familjen Grotesk" pitchFamily="34" charset="-122"/>
                <a:cs typeface="Familjen Grotesk" pitchFamily="34" charset="-120"/>
              </a:rPr>
              <a:t>Thank you to the organizers and leadership for this platform.</a:t>
            </a:r>
            <a:endParaRPr lang="en-US" sz="1800" dirty="0"/>
          </a:p>
        </p:txBody>
      </p:sp>
      <p:sp>
        <p:nvSpPr>
          <p:cNvPr id="6" name="Text 4"/>
          <p:cNvSpPr/>
          <p:nvPr/>
        </p:nvSpPr>
        <p:spPr>
          <a:xfrm>
            <a:off x="634984" y="5953423"/>
            <a:ext cx="6908627" cy="269677"/>
          </a:xfrm>
          <a:prstGeom prst="rect">
            <a:avLst/>
          </a:prstGeom>
          <a:noFill/>
          <a:ln/>
        </p:spPr>
        <p:txBody>
          <a:bodyPr wrap="none" lIns="0" tIns="0" rIns="0" bIns="0" rtlCol="0" anchor="t"/>
          <a:lstStyle/>
          <a:p>
            <a:pPr algn="l" indent="0" marL="0">
              <a:lnSpc>
                <a:spcPct val="98000"/>
              </a:lnSpc>
              <a:buNone/>
            </a:pPr>
            <a:r>
              <a:rPr lang="en-US" sz="1800" dirty="0">
                <a:solidFill>
                  <a:srgbClr val="FFFFFF"/>
                </a:solidFill>
                <a:latin typeface="Familjen Grotesk SemiBold" pitchFamily="34" charset="0"/>
                <a:ea typeface="Familjen Grotesk SemiBold" pitchFamily="34" charset="-122"/>
                <a:cs typeface="Familjen Grotesk SemiBold" pitchFamily="34" charset="-120"/>
              </a:rPr>
              <a:t>Next-Gen Student Academic Platform</a:t>
            </a:r>
            <a:endParaRPr lang="en-US" sz="1800" dirty="0"/>
          </a:p>
        </p:txBody>
      </p:sp>
      <p:pic>
        <p:nvPicPr>
          <p:cNvPr id="7" name="Image 0" descr="preencoded.png">    </p:cNvPr>
          <p:cNvPicPr>
            <a:picLocks noChangeAspect="1"/>
          </p:cNvPicPr>
          <p:nvPr/>
        </p:nvPicPr>
        <p:blipFill>
          <a:blip r:embed="rId1"/>
          <a:stretch>
            <a:fillRect/>
          </a:stretch>
        </p:blipFill>
        <p:spPr>
          <a:xfrm>
            <a:off x="8102397" y="228600"/>
            <a:ext cx="3860703" cy="6400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7987" y="508000"/>
            <a:ext cx="11683708"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000000"/>
                </a:solidFill>
                <a:latin typeface="DM Mono Medium" pitchFamily="34" charset="0"/>
                <a:ea typeface="DM Mono Medium" pitchFamily="34" charset="-122"/>
                <a:cs typeface="DM Mono Medium" pitchFamily="34" charset="-120"/>
              </a:rPr>
              <a:t>THE FIRST QUESTION</a:t>
            </a:r>
            <a:endParaRPr lang="en-US" sz="1150" dirty="0"/>
          </a:p>
        </p:txBody>
      </p:sp>
      <p:sp>
        <p:nvSpPr>
          <p:cNvPr id="3" name="Text 1"/>
          <p:cNvSpPr/>
          <p:nvPr/>
        </p:nvSpPr>
        <p:spPr>
          <a:xfrm>
            <a:off x="507987" y="762595"/>
            <a:ext cx="11175720" cy="877689"/>
          </a:xfrm>
          <a:prstGeom prst="rect">
            <a:avLst/>
          </a:prstGeom>
          <a:noFill/>
          <a:ln/>
        </p:spPr>
        <p:txBody>
          <a:bodyPr wrap="square" lIns="0" tIns="0" rIns="0" bIns="0" rtlCol="0" anchor="t">
            <a:normAutofit/>
          </a:bodyPr>
          <a:lstStyle/>
          <a:p>
            <a:pPr algn="l" indent="0" marL="0">
              <a:lnSpc>
                <a:spcPct val="90000"/>
              </a:lnSpc>
              <a:buNone/>
            </a:pPr>
            <a:r>
              <a:rPr lang="en-US" sz="3200" spc="-64" kern="100" dirty="0">
                <a:solidFill>
                  <a:srgbClr val="000000"/>
                </a:solidFill>
                <a:latin typeface="Krona One" pitchFamily="34" charset="0"/>
                <a:ea typeface="Krona One" pitchFamily="34" charset="-122"/>
                <a:cs typeface="Krona One" pitchFamily="34" charset="-120"/>
              </a:rPr>
              <a:t>What's the single most important asset to every person?</a:t>
            </a:r>
            <a:endParaRPr lang="en-US" sz="3200" dirty="0"/>
          </a:p>
        </p:txBody>
      </p:sp>
      <p:pic>
        <p:nvPicPr>
          <p:cNvPr id="4" name="Image 0" descr="preencoded.png">    </p:cNvPr>
          <p:cNvPicPr>
            <a:picLocks noChangeAspect="1"/>
          </p:cNvPicPr>
          <p:nvPr/>
        </p:nvPicPr>
        <p:blipFill>
          <a:blip r:embed="rId1"/>
          <a:stretch>
            <a:fillRect/>
          </a:stretch>
        </p:blipFill>
        <p:spPr>
          <a:xfrm>
            <a:off x="507987" y="1837134"/>
            <a:ext cx="3674375" cy="4512866"/>
          </a:xfrm>
          <a:prstGeom prst="rect">
            <a:avLst/>
          </a:prstGeom>
        </p:spPr>
      </p:pic>
      <p:sp>
        <p:nvSpPr>
          <p:cNvPr id="5" name="Shape 2"/>
          <p:cNvSpPr/>
          <p:nvPr/>
        </p:nvSpPr>
        <p:spPr>
          <a:xfrm>
            <a:off x="4334759" y="1837134"/>
            <a:ext cx="7348949" cy="4512866"/>
          </a:xfrm>
          <a:prstGeom prst="roundRect">
            <a:avLst>
              <a:gd name="adj" fmla="val 3799"/>
            </a:avLst>
          </a:prstGeom>
          <a:solidFill>
            <a:srgbClr val="0B2345"/>
          </a:solidFill>
          <a:ln/>
        </p:spPr>
      </p:sp>
      <p:sp>
        <p:nvSpPr>
          <p:cNvPr id="6" name="Text 3"/>
          <p:cNvSpPr/>
          <p:nvPr/>
        </p:nvSpPr>
        <p:spPr>
          <a:xfrm>
            <a:off x="4741149" y="3102273"/>
            <a:ext cx="6536169" cy="1135856"/>
          </a:xfrm>
          <a:prstGeom prst="rect">
            <a:avLst/>
          </a:prstGeom>
          <a:noFill/>
          <a:ln/>
        </p:spPr>
        <p:txBody>
          <a:bodyPr wrap="none" lIns="0" tIns="0" rIns="0" bIns="0" rtlCol="0" anchor="t"/>
          <a:lstStyle/>
          <a:p>
            <a:pPr algn="l" indent="0" marL="0">
              <a:lnSpc>
                <a:spcPct val="87000"/>
              </a:lnSpc>
              <a:buNone/>
            </a:pPr>
            <a:r>
              <a:rPr lang="en-US" sz="8600" spc="-258" kern="100" dirty="0">
                <a:solidFill>
                  <a:srgbClr val="FFFFFF"/>
                </a:solidFill>
                <a:latin typeface="Krona One" pitchFamily="34" charset="0"/>
                <a:ea typeface="Krona One" pitchFamily="34" charset="-122"/>
                <a:cs typeface="Krona One" pitchFamily="34" charset="-120"/>
              </a:rPr>
              <a:t>TIME</a:t>
            </a:r>
            <a:endParaRPr lang="en-US" sz="8600" dirty="0"/>
          </a:p>
        </p:txBody>
      </p:sp>
      <p:sp>
        <p:nvSpPr>
          <p:cNvPr id="7" name="Text 4"/>
          <p:cNvSpPr/>
          <p:nvPr/>
        </p:nvSpPr>
        <p:spPr>
          <a:xfrm>
            <a:off x="4741149" y="4352429"/>
            <a:ext cx="6536169" cy="269677"/>
          </a:xfrm>
          <a:prstGeom prst="rect">
            <a:avLst/>
          </a:prstGeom>
          <a:noFill/>
          <a:ln/>
        </p:spPr>
        <p:txBody>
          <a:bodyPr wrap="none" lIns="0" tIns="0" rIns="0" bIns="0" rtlCol="0" anchor="t"/>
          <a:lstStyle/>
          <a:p>
            <a:pPr algn="l" indent="0" marL="0">
              <a:lnSpc>
                <a:spcPct val="98000"/>
              </a:lnSpc>
              <a:buNone/>
            </a:pPr>
            <a:r>
              <a:rPr lang="en-US" sz="1800" dirty="0">
                <a:solidFill>
                  <a:srgbClr val="FFFFFF"/>
                </a:solidFill>
                <a:latin typeface="Familjen Grotesk SemiBold" pitchFamily="34" charset="0"/>
                <a:ea typeface="Familjen Grotesk SemiBold" pitchFamily="34" charset="-122"/>
                <a:cs typeface="Familjen Grotesk SemiBold" pitchFamily="34" charset="-120"/>
              </a:rPr>
              <a:t>An irreplaceable, non-renewable resource.</a:t>
            </a:r>
            <a:endParaRPr lang="en-US" sz="1800" dirty="0"/>
          </a:p>
        </p:txBody>
      </p:sp>
      <p:sp>
        <p:nvSpPr>
          <p:cNvPr id="8" name="Text 5"/>
          <p:cNvSpPr/>
          <p:nvPr/>
        </p:nvSpPr>
        <p:spPr>
          <a:xfrm>
            <a:off x="4741149" y="4764980"/>
            <a:ext cx="6942559"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Familjen Grotesk" pitchFamily="34" charset="0"/>
                <a:ea typeface="Familjen Grotesk" pitchFamily="34" charset="-122"/>
                <a:cs typeface="Familjen Grotesk" pitchFamily="34" charset="-120"/>
              </a:rPr>
              <a:t>It governs academic performance and growth.</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7987" y="508000"/>
            <a:ext cx="11683708"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000000"/>
                </a:solidFill>
                <a:latin typeface="DM Mono Medium" pitchFamily="34" charset="0"/>
                <a:ea typeface="DM Mono Medium" pitchFamily="34" charset="-122"/>
                <a:cs typeface="DM Mono Medium" pitchFamily="34" charset="-120"/>
              </a:rPr>
              <a:t>THE SECOND QUESTION</a:t>
            </a:r>
            <a:endParaRPr lang="en-US" sz="1150" dirty="0"/>
          </a:p>
        </p:txBody>
      </p:sp>
      <p:sp>
        <p:nvSpPr>
          <p:cNvPr id="3" name="Text 1"/>
          <p:cNvSpPr/>
          <p:nvPr/>
        </p:nvSpPr>
        <p:spPr>
          <a:xfrm>
            <a:off x="507987" y="762595"/>
            <a:ext cx="11175720" cy="877689"/>
          </a:xfrm>
          <a:prstGeom prst="rect">
            <a:avLst/>
          </a:prstGeom>
          <a:noFill/>
          <a:ln/>
        </p:spPr>
        <p:txBody>
          <a:bodyPr wrap="square" lIns="0" tIns="0" rIns="0" bIns="0" rtlCol="0" anchor="t">
            <a:normAutofit/>
          </a:bodyPr>
          <a:lstStyle/>
          <a:p>
            <a:pPr algn="l" indent="0" marL="0">
              <a:lnSpc>
                <a:spcPct val="90000"/>
              </a:lnSpc>
              <a:buNone/>
            </a:pPr>
            <a:r>
              <a:rPr lang="en-US" sz="3200" spc="-64" kern="100" dirty="0">
                <a:solidFill>
                  <a:srgbClr val="000000"/>
                </a:solidFill>
                <a:latin typeface="Krona One" pitchFamily="34" charset="0"/>
                <a:ea typeface="Krona One" pitchFamily="34" charset="-122"/>
                <a:cs typeface="Krona One" pitchFamily="34" charset="-120"/>
              </a:rPr>
              <a:t>What has grown exponentially over the past decades?</a:t>
            </a:r>
            <a:endParaRPr lang="en-US" sz="3200" dirty="0"/>
          </a:p>
        </p:txBody>
      </p:sp>
      <p:sp>
        <p:nvSpPr>
          <p:cNvPr id="4" name="Shape 2"/>
          <p:cNvSpPr/>
          <p:nvPr/>
        </p:nvSpPr>
        <p:spPr>
          <a:xfrm>
            <a:off x="507987" y="1837134"/>
            <a:ext cx="8267493" cy="4512866"/>
          </a:xfrm>
          <a:prstGeom prst="roundRect">
            <a:avLst>
              <a:gd name="adj" fmla="val 3799"/>
            </a:avLst>
          </a:prstGeom>
          <a:solidFill>
            <a:srgbClr val="BDE7FF"/>
          </a:solidFill>
          <a:ln/>
        </p:spPr>
      </p:sp>
      <p:sp>
        <p:nvSpPr>
          <p:cNvPr id="5" name="Text 3"/>
          <p:cNvSpPr/>
          <p:nvPr/>
        </p:nvSpPr>
        <p:spPr>
          <a:xfrm>
            <a:off x="888978" y="3251101"/>
            <a:ext cx="7505512" cy="633909"/>
          </a:xfrm>
          <a:prstGeom prst="rect">
            <a:avLst/>
          </a:prstGeom>
          <a:noFill/>
          <a:ln/>
        </p:spPr>
        <p:txBody>
          <a:bodyPr wrap="none" lIns="0" tIns="0" rIns="0" bIns="0" rtlCol="0" anchor="t"/>
          <a:lstStyle/>
          <a:p>
            <a:pPr algn="l" indent="0" marL="0">
              <a:lnSpc>
                <a:spcPct val="87000"/>
              </a:lnSpc>
              <a:buNone/>
            </a:pPr>
            <a:r>
              <a:rPr lang="en-US" sz="4800" spc="-144" kern="100" dirty="0">
                <a:solidFill>
                  <a:srgbClr val="000000"/>
                </a:solidFill>
                <a:latin typeface="Krona One" pitchFamily="34" charset="0"/>
                <a:ea typeface="Krona One" pitchFamily="34" charset="-122"/>
                <a:cs typeface="Krona One" pitchFamily="34" charset="-120"/>
              </a:rPr>
              <a:t>KNOWLEDGE</a:t>
            </a:r>
            <a:endParaRPr lang="en-US" sz="4800" dirty="0"/>
          </a:p>
        </p:txBody>
      </p:sp>
      <p:sp>
        <p:nvSpPr>
          <p:cNvPr id="6" name="Text 4"/>
          <p:cNvSpPr/>
          <p:nvPr/>
        </p:nvSpPr>
        <p:spPr>
          <a:xfrm>
            <a:off x="888978" y="4081859"/>
            <a:ext cx="7505512"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00000"/>
                </a:solidFill>
                <a:latin typeface="Familjen Grotesk" pitchFamily="34" charset="0"/>
                <a:ea typeface="Familjen Grotesk" pitchFamily="34" charset="-122"/>
                <a:cs typeface="Familjen Grotesk" pitchFamily="34" charset="-120"/>
              </a:rPr>
              <a:t>Syllabi, course depth, and learning resources are expanding faster than ever across all faculties.</a:t>
            </a:r>
            <a:endParaRPr lang="en-US" sz="1800" dirty="0"/>
          </a:p>
        </p:txBody>
      </p:sp>
      <p:sp>
        <p:nvSpPr>
          <p:cNvPr id="7" name="Text 5"/>
          <p:cNvSpPr/>
          <p:nvPr/>
        </p:nvSpPr>
        <p:spPr>
          <a:xfrm>
            <a:off x="888978" y="5754787"/>
            <a:ext cx="7886503" cy="214313"/>
          </a:xfrm>
          <a:prstGeom prst="rect">
            <a:avLst/>
          </a:prstGeom>
          <a:noFill/>
          <a:ln/>
        </p:spPr>
        <p:txBody>
          <a:bodyPr wrap="none" lIns="0" tIns="0" rIns="0" bIns="0" rtlCol="0" anchor="t"/>
          <a:lstStyle/>
          <a:p>
            <a:pPr algn="l" indent="0" marL="0">
              <a:lnSpc>
                <a:spcPct val="112000"/>
              </a:lnSpc>
              <a:buNone/>
            </a:pPr>
            <a:r>
              <a:rPr lang="en-US" sz="1250" dirty="0">
                <a:solidFill>
                  <a:srgbClr val="000000"/>
                </a:solidFill>
                <a:latin typeface="Familjen Grotesk" pitchFamily="34" charset="0"/>
                <a:ea typeface="Familjen Grotesk" pitchFamily="34" charset="-122"/>
                <a:cs typeface="Familjen Grotesk" pitchFamily="34" charset="-120"/>
              </a:rPr>
              <a:t>More to understand. More to connect. More to retain.</a:t>
            </a:r>
            <a:endParaRPr lang="en-US" sz="1250" dirty="0"/>
          </a:p>
        </p:txBody>
      </p:sp>
      <p:pic>
        <p:nvPicPr>
          <p:cNvPr id="8" name="Image 0" descr="preencoded.png">    </p:cNvPr>
          <p:cNvPicPr>
            <a:picLocks noChangeAspect="1"/>
          </p:cNvPicPr>
          <p:nvPr/>
        </p:nvPicPr>
        <p:blipFill>
          <a:blip r:embed="rId1"/>
          <a:stretch>
            <a:fillRect/>
          </a:stretch>
        </p:blipFill>
        <p:spPr>
          <a:xfrm>
            <a:off x="8927877" y="1837134"/>
            <a:ext cx="2755831" cy="45128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7987" y="508000"/>
            <a:ext cx="11683708"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000000"/>
                </a:solidFill>
                <a:latin typeface="DM Mono Medium" pitchFamily="34" charset="0"/>
                <a:ea typeface="DM Mono Medium" pitchFamily="34" charset="-122"/>
                <a:cs typeface="DM Mono Medium" pitchFamily="34" charset="-120"/>
              </a:rPr>
              <a:t>THE LAST QUESTION</a:t>
            </a:r>
            <a:endParaRPr lang="en-US" sz="1150" dirty="0"/>
          </a:p>
        </p:txBody>
      </p:sp>
      <p:sp>
        <p:nvSpPr>
          <p:cNvPr id="3" name="Text 1"/>
          <p:cNvSpPr/>
          <p:nvPr/>
        </p:nvSpPr>
        <p:spPr>
          <a:xfrm>
            <a:off x="507987" y="762595"/>
            <a:ext cx="11175720" cy="438845"/>
          </a:xfrm>
          <a:prstGeom prst="rect">
            <a:avLst/>
          </a:prstGeom>
          <a:noFill/>
          <a:ln/>
        </p:spPr>
        <p:txBody>
          <a:bodyPr wrap="none" lIns="0" tIns="0" rIns="0" bIns="0" rtlCol="0" anchor="t"/>
          <a:lstStyle/>
          <a:p>
            <a:pPr algn="l" indent="0" marL="0">
              <a:lnSpc>
                <a:spcPct val="90000"/>
              </a:lnSpc>
              <a:buNone/>
            </a:pPr>
            <a:r>
              <a:rPr lang="en-US" sz="3200" spc="-64" kern="100" dirty="0">
                <a:solidFill>
                  <a:srgbClr val="000000"/>
                </a:solidFill>
                <a:latin typeface="Krona One" pitchFamily="34" charset="0"/>
                <a:ea typeface="Krona One" pitchFamily="34" charset="-122"/>
                <a:cs typeface="Krona One" pitchFamily="34" charset="-120"/>
              </a:rPr>
              <a:t>What is the #1 limitation for every learner?</a:t>
            </a:r>
            <a:endParaRPr lang="en-US" sz="3200" dirty="0"/>
          </a:p>
        </p:txBody>
      </p:sp>
      <p:sp>
        <p:nvSpPr>
          <p:cNvPr id="4" name="Shape 2"/>
          <p:cNvSpPr/>
          <p:nvPr/>
        </p:nvSpPr>
        <p:spPr>
          <a:xfrm>
            <a:off x="507987" y="1398290"/>
            <a:ext cx="11175720" cy="4951710"/>
          </a:xfrm>
          <a:prstGeom prst="roundRect">
            <a:avLst>
              <a:gd name="adj" fmla="val 3462"/>
            </a:avLst>
          </a:prstGeom>
          <a:solidFill>
            <a:srgbClr val="0B2345"/>
          </a:solidFill>
          <a:ln/>
        </p:spPr>
      </p:sp>
      <p:sp>
        <p:nvSpPr>
          <p:cNvPr id="5" name="Text 3"/>
          <p:cNvSpPr/>
          <p:nvPr/>
        </p:nvSpPr>
        <p:spPr>
          <a:xfrm>
            <a:off x="965176" y="2790329"/>
            <a:ext cx="10261343" cy="1320800"/>
          </a:xfrm>
          <a:prstGeom prst="rect">
            <a:avLst/>
          </a:prstGeom>
          <a:noFill/>
          <a:ln/>
        </p:spPr>
        <p:txBody>
          <a:bodyPr wrap="none" lIns="0" tIns="0" rIns="0" bIns="0" rtlCol="0" anchor="t"/>
          <a:lstStyle/>
          <a:p>
            <a:pPr algn="l" indent="0" marL="0">
              <a:lnSpc>
                <a:spcPct val="87000"/>
              </a:lnSpc>
              <a:buNone/>
            </a:pPr>
            <a:r>
              <a:rPr lang="en-US" sz="10000" spc="-300" kern="100" dirty="0">
                <a:solidFill>
                  <a:srgbClr val="FFFFFF"/>
                </a:solidFill>
                <a:latin typeface="Krona One" pitchFamily="34" charset="0"/>
                <a:ea typeface="Krona One" pitchFamily="34" charset="-122"/>
                <a:cs typeface="Krona One" pitchFamily="34" charset="-120"/>
              </a:rPr>
              <a:t>TIME</a:t>
            </a:r>
            <a:endParaRPr lang="en-US" sz="10000" dirty="0"/>
          </a:p>
        </p:txBody>
      </p:sp>
      <p:sp>
        <p:nvSpPr>
          <p:cNvPr id="6" name="Text 4"/>
          <p:cNvSpPr/>
          <p:nvPr/>
        </p:nvSpPr>
        <p:spPr>
          <a:xfrm>
            <a:off x="965176" y="4225429"/>
            <a:ext cx="10261343" cy="269677"/>
          </a:xfrm>
          <a:prstGeom prst="rect">
            <a:avLst/>
          </a:prstGeom>
          <a:noFill/>
          <a:ln/>
        </p:spPr>
        <p:txBody>
          <a:bodyPr wrap="none" lIns="0" tIns="0" rIns="0" bIns="0" rtlCol="0" anchor="t"/>
          <a:lstStyle/>
          <a:p>
            <a:pPr algn="l" indent="0" marL="0">
              <a:lnSpc>
                <a:spcPct val="98000"/>
              </a:lnSpc>
              <a:buNone/>
            </a:pPr>
            <a:r>
              <a:rPr lang="en-US" sz="1800" dirty="0">
                <a:solidFill>
                  <a:srgbClr val="FFFFFF"/>
                </a:solidFill>
                <a:latin typeface="Familjen Grotesk SemiBold" pitchFamily="34" charset="0"/>
                <a:ea typeface="Familjen Grotesk SemiBold" pitchFamily="34" charset="-122"/>
                <a:cs typeface="Familjen Grotesk SemiBold" pitchFamily="34" charset="-120"/>
              </a:rPr>
              <a:t>Dense materials. Tight semester timelines.</a:t>
            </a:r>
            <a:endParaRPr lang="en-US" sz="1800" dirty="0"/>
          </a:p>
        </p:txBody>
      </p:sp>
      <p:sp>
        <p:nvSpPr>
          <p:cNvPr id="7" name="Text 5"/>
          <p:cNvSpPr/>
          <p:nvPr/>
        </p:nvSpPr>
        <p:spPr>
          <a:xfrm>
            <a:off x="965176" y="4637980"/>
            <a:ext cx="10718532"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Familjen Grotesk" pitchFamily="34" charset="0"/>
                <a:ea typeface="Familjen Grotesk" pitchFamily="34" charset="-122"/>
                <a:cs typeface="Familjen Grotesk" pitchFamily="34" charset="-120"/>
              </a:rPr>
              <a:t>Students are overwhelmed filtering study materials before they can focus on understanding them.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7987" y="508000"/>
            <a:ext cx="11683708"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000000"/>
                </a:solidFill>
                <a:latin typeface="DM Mono Medium" pitchFamily="34" charset="0"/>
                <a:ea typeface="DM Mono Medium" pitchFamily="34" charset="-122"/>
                <a:cs typeface="DM Mono Medium" pitchFamily="34" charset="-120"/>
              </a:rPr>
              <a:t>THE PLATFORM</a:t>
            </a:r>
            <a:endParaRPr lang="en-US" sz="1150" dirty="0"/>
          </a:p>
        </p:txBody>
      </p:sp>
      <p:sp>
        <p:nvSpPr>
          <p:cNvPr id="3" name="Text 1"/>
          <p:cNvSpPr/>
          <p:nvPr/>
        </p:nvSpPr>
        <p:spPr>
          <a:xfrm>
            <a:off x="507987" y="762595"/>
            <a:ext cx="11175720" cy="438845"/>
          </a:xfrm>
          <a:prstGeom prst="rect">
            <a:avLst/>
          </a:prstGeom>
          <a:noFill/>
          <a:ln/>
        </p:spPr>
        <p:txBody>
          <a:bodyPr wrap="none" lIns="0" tIns="0" rIns="0" bIns="0" rtlCol="0" anchor="t"/>
          <a:lstStyle/>
          <a:p>
            <a:pPr algn="l" indent="0" marL="0">
              <a:lnSpc>
                <a:spcPct val="90000"/>
              </a:lnSpc>
              <a:buNone/>
            </a:pPr>
            <a:r>
              <a:rPr lang="en-US" sz="3200" spc="-64" kern="100" dirty="0">
                <a:solidFill>
                  <a:srgbClr val="000000"/>
                </a:solidFill>
                <a:latin typeface="Krona One" pitchFamily="34" charset="0"/>
                <a:ea typeface="Krona One" pitchFamily="34" charset="-122"/>
                <a:cs typeface="Krona One" pitchFamily="34" charset="-120"/>
              </a:rPr>
              <a:t>Introducing BMC Academia</a:t>
            </a:r>
            <a:endParaRPr lang="en-US" sz="3200" dirty="0"/>
          </a:p>
        </p:txBody>
      </p:sp>
      <p:sp>
        <p:nvSpPr>
          <p:cNvPr id="4" name="Shape 2"/>
          <p:cNvSpPr/>
          <p:nvPr/>
        </p:nvSpPr>
        <p:spPr>
          <a:xfrm>
            <a:off x="507987" y="1398290"/>
            <a:ext cx="4891957" cy="3341489"/>
          </a:xfrm>
          <a:prstGeom prst="roundRect">
            <a:avLst>
              <a:gd name="adj" fmla="val 5131"/>
            </a:avLst>
          </a:prstGeom>
          <a:solidFill>
            <a:srgbClr val="BDE7FF"/>
          </a:solidFill>
          <a:ln/>
        </p:spPr>
      </p:sp>
      <p:sp>
        <p:nvSpPr>
          <p:cNvPr id="5" name="Text 3"/>
          <p:cNvSpPr/>
          <p:nvPr/>
        </p:nvSpPr>
        <p:spPr>
          <a:xfrm>
            <a:off x="812780" y="2729409"/>
            <a:ext cx="4282373"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Exponential Knowledge</a:t>
            </a:r>
            <a:endParaRPr lang="en-US" sz="1800" dirty="0"/>
          </a:p>
        </p:txBody>
      </p:sp>
      <p:sp>
        <p:nvSpPr>
          <p:cNvPr id="6" name="Text 4"/>
          <p:cNvSpPr/>
          <p:nvPr/>
        </p:nvSpPr>
        <p:spPr>
          <a:xfrm>
            <a:off x="812780" y="3141960"/>
            <a:ext cx="4587165" cy="266700"/>
          </a:xfrm>
          <a:prstGeom prst="rect">
            <a:avLst/>
          </a:prstGeom>
          <a:noFill/>
          <a:ln/>
        </p:spPr>
        <p:txBody>
          <a:bodyPr wrap="none" lIns="0" tIns="0" rIns="0" bIns="0" rtlCol="0" anchor="t"/>
          <a:lstStyle/>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A growing volume to learn.</a:t>
            </a:r>
            <a:endParaRPr lang="en-US" sz="1500" dirty="0"/>
          </a:p>
        </p:txBody>
      </p:sp>
      <p:sp>
        <p:nvSpPr>
          <p:cNvPr id="7" name="Shape 5"/>
          <p:cNvSpPr/>
          <p:nvPr/>
        </p:nvSpPr>
        <p:spPr>
          <a:xfrm>
            <a:off x="5552242" y="1398290"/>
            <a:ext cx="1087212" cy="3341489"/>
          </a:xfrm>
          <a:prstGeom prst="roundRect">
            <a:avLst>
              <a:gd name="adj" fmla="val 15769"/>
            </a:avLst>
          </a:prstGeom>
          <a:solidFill>
            <a:srgbClr val="FFFFFF"/>
          </a:solidFill>
          <a:ln/>
        </p:spPr>
      </p:sp>
      <p:sp>
        <p:nvSpPr>
          <p:cNvPr id="8" name="Text 6"/>
          <p:cNvSpPr/>
          <p:nvPr/>
        </p:nvSpPr>
        <p:spPr>
          <a:xfrm>
            <a:off x="5902773" y="2712145"/>
            <a:ext cx="736681" cy="713680"/>
          </a:xfrm>
          <a:prstGeom prst="rect">
            <a:avLst/>
          </a:prstGeom>
          <a:noFill/>
          <a:ln/>
        </p:spPr>
        <p:txBody>
          <a:bodyPr wrap="none" lIns="0" tIns="0" rIns="0" bIns="0" rtlCol="0" anchor="t"/>
          <a:lstStyle/>
          <a:p>
            <a:pPr algn="l" indent="0" marL="0">
              <a:lnSpc>
                <a:spcPct val="117000"/>
              </a:lnSpc>
              <a:buNone/>
            </a:pPr>
            <a:r>
              <a:rPr lang="en-US" sz="3800" i="1" dirty="0">
                <a:solidFill>
                  <a:srgbClr val="000000"/>
                </a:solidFill>
                <a:latin typeface="Consolas" pitchFamily="34" charset="0"/>
                <a:ea typeface="Consolas" pitchFamily="34" charset="-122"/>
                <a:cs typeface="Consolas" pitchFamily="34" charset="-120"/>
              </a:rPr>
              <a:t> </a:t>
            </a:r>
            <a:endParaRPr lang="en-US" sz="4000" dirty="0"/>
          </a:p>
        </p:txBody>
      </p:sp>
      <p:pic>
        <p:nvPicPr>
          <p:cNvPr id="9" name="Image 0" descr="preencoded.png">    </p:cNvPr>
          <p:cNvPicPr>
            <a:picLocks noChangeAspect="1"/>
          </p:cNvPicPr>
          <p:nvPr/>
        </p:nvPicPr>
        <p:blipFill>
          <a:blip r:embed="rId1"/>
          <a:stretch>
            <a:fillRect/>
          </a:stretch>
        </p:blipFill>
        <p:spPr>
          <a:xfrm>
            <a:off x="5902773" y="2820095"/>
            <a:ext cx="386150" cy="595610"/>
          </a:xfrm>
          <a:prstGeom prst="rect">
            <a:avLst/>
          </a:prstGeom>
        </p:spPr>
      </p:pic>
      <p:sp>
        <p:nvSpPr>
          <p:cNvPr id="10" name="Shape 7"/>
          <p:cNvSpPr/>
          <p:nvPr/>
        </p:nvSpPr>
        <p:spPr>
          <a:xfrm>
            <a:off x="6791750" y="1398290"/>
            <a:ext cx="4891957" cy="3341489"/>
          </a:xfrm>
          <a:prstGeom prst="roundRect">
            <a:avLst>
              <a:gd name="adj" fmla="val 5131"/>
            </a:avLst>
          </a:prstGeom>
          <a:solidFill>
            <a:srgbClr val="BDE7FF"/>
          </a:solidFill>
          <a:ln/>
        </p:spPr>
      </p:sp>
      <p:sp>
        <p:nvSpPr>
          <p:cNvPr id="11" name="Text 8"/>
          <p:cNvSpPr/>
          <p:nvPr/>
        </p:nvSpPr>
        <p:spPr>
          <a:xfrm>
            <a:off x="7096543" y="2729409"/>
            <a:ext cx="4282373"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Finite Time</a:t>
            </a:r>
            <a:endParaRPr lang="en-US" sz="1800" dirty="0"/>
          </a:p>
        </p:txBody>
      </p:sp>
      <p:sp>
        <p:nvSpPr>
          <p:cNvPr id="12" name="Text 9"/>
          <p:cNvSpPr/>
          <p:nvPr/>
        </p:nvSpPr>
        <p:spPr>
          <a:xfrm>
            <a:off x="7096543" y="3141960"/>
            <a:ext cx="4587165" cy="266700"/>
          </a:xfrm>
          <a:prstGeom prst="rect">
            <a:avLst/>
          </a:prstGeom>
          <a:noFill/>
          <a:ln/>
        </p:spPr>
        <p:txBody>
          <a:bodyPr wrap="none" lIns="0" tIns="0" rIns="0" bIns="0" rtlCol="0" anchor="t"/>
          <a:lstStyle/>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A limited window to learn it.</a:t>
            </a:r>
            <a:endParaRPr lang="en-US" sz="1500" dirty="0"/>
          </a:p>
        </p:txBody>
      </p:sp>
      <p:sp>
        <p:nvSpPr>
          <p:cNvPr id="13" name="Text 10"/>
          <p:cNvSpPr/>
          <p:nvPr/>
        </p:nvSpPr>
        <p:spPr>
          <a:xfrm>
            <a:off x="203195" y="4917579"/>
            <a:ext cx="11785305" cy="426641"/>
          </a:xfrm>
          <a:prstGeom prst="rect">
            <a:avLst/>
          </a:prstGeom>
          <a:noFill/>
          <a:ln/>
        </p:spPr>
        <p:txBody>
          <a:bodyPr wrap="none" lIns="0" tIns="0" rIns="0" bIns="0" rtlCol="0" anchor="t"/>
          <a:lstStyle/>
          <a:p>
            <a:pPr algn="ctr" indent="0" marL="0">
              <a:lnSpc>
                <a:spcPct val="117000"/>
              </a:lnSpc>
              <a:buNone/>
            </a:pPr>
            <a:r>
              <a:rPr lang="en-US" sz="2300" i="1" dirty="0">
                <a:solidFill>
                  <a:srgbClr val="000000"/>
                </a:solidFill>
                <a:latin typeface="Consolas" pitchFamily="34" charset="0"/>
                <a:ea typeface="Consolas" pitchFamily="34" charset="-122"/>
                <a:cs typeface="Consolas" pitchFamily="34" charset="-120"/>
              </a:rPr>
              <a:t> </a:t>
            </a:r>
            <a:pPr algn="ctr" indent="0" marL="0">
              <a:lnSpc>
                <a:spcPct val="117000"/>
              </a:lnSpc>
              <a:buNone/>
            </a:pPr>
            <a:r>
              <a:rPr lang="en-US" sz="2400" dirty="0">
                <a:solidFill>
                  <a:srgbClr val="000000"/>
                </a:solidFill>
                <a:latin typeface="Familjen Grotesk" pitchFamily="34" charset="0"/>
                <a:ea typeface="Familjen Grotesk" pitchFamily="34" charset="-122"/>
                <a:cs typeface="Familjen Grotesk" pitchFamily="34" charset="-120"/>
              </a:rPr>
              <a:t> Need for High-Efficiency Learning</a:t>
            </a:r>
            <a:endParaRPr lang="en-US" sz="2400" dirty="0"/>
          </a:p>
        </p:txBody>
      </p:sp>
      <p:pic>
        <p:nvPicPr>
          <p:cNvPr id="14" name="Image 1" descr="preencoded.png">    </p:cNvPr>
          <p:cNvPicPr>
            <a:picLocks noChangeAspect="1"/>
          </p:cNvPicPr>
          <p:nvPr/>
        </p:nvPicPr>
        <p:blipFill>
          <a:blip r:embed="rId2"/>
          <a:stretch>
            <a:fillRect/>
          </a:stretch>
        </p:blipFill>
        <p:spPr>
          <a:xfrm>
            <a:off x="3798197" y="4981079"/>
            <a:ext cx="231571" cy="357386"/>
          </a:xfrm>
          <a:prstGeom prst="rect">
            <a:avLst/>
          </a:prstGeom>
        </p:spPr>
      </p:pic>
      <p:sp>
        <p:nvSpPr>
          <p:cNvPr id="15" name="Shape 11"/>
          <p:cNvSpPr/>
          <p:nvPr/>
        </p:nvSpPr>
        <p:spPr>
          <a:xfrm>
            <a:off x="507987" y="5522020"/>
            <a:ext cx="11175720" cy="827980"/>
          </a:xfrm>
          <a:prstGeom prst="roundRect">
            <a:avLst>
              <a:gd name="adj" fmla="val 20707"/>
            </a:avLst>
          </a:prstGeom>
          <a:solidFill>
            <a:srgbClr val="0B2345"/>
          </a:solidFill>
          <a:ln/>
        </p:spPr>
      </p:sp>
      <p:sp>
        <p:nvSpPr>
          <p:cNvPr id="16" name="Text 12"/>
          <p:cNvSpPr/>
          <p:nvPr/>
        </p:nvSpPr>
        <p:spPr>
          <a:xfrm>
            <a:off x="812780" y="5776020"/>
            <a:ext cx="10870928"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Familjen Grotesk" pitchFamily="34" charset="0"/>
                <a:ea typeface="Familjen Grotesk" pitchFamily="34" charset="-122"/>
                <a:cs typeface="Familjen Grotesk" pitchFamily="34" charset="-120"/>
              </a:rPr>
              <a:t>A unified platform for BMC students across all faculties to absorb maximum knowledge in minimal time.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7987" y="508000"/>
            <a:ext cx="11683708"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000000"/>
                </a:solidFill>
                <a:latin typeface="DM Mono Medium" pitchFamily="34" charset="0"/>
                <a:ea typeface="DM Mono Medium" pitchFamily="34" charset="-122"/>
                <a:cs typeface="DM Mono Medium" pitchFamily="34" charset="-120"/>
              </a:rPr>
              <a:t>LEARNING TOOLKIT</a:t>
            </a:r>
            <a:endParaRPr lang="en-US" sz="1150" dirty="0"/>
          </a:p>
        </p:txBody>
      </p:sp>
      <p:sp>
        <p:nvSpPr>
          <p:cNvPr id="3" name="Text 1"/>
          <p:cNvSpPr/>
          <p:nvPr/>
        </p:nvSpPr>
        <p:spPr>
          <a:xfrm>
            <a:off x="507987" y="762595"/>
            <a:ext cx="11175720" cy="438845"/>
          </a:xfrm>
          <a:prstGeom prst="rect">
            <a:avLst/>
          </a:prstGeom>
          <a:noFill/>
          <a:ln/>
        </p:spPr>
        <p:txBody>
          <a:bodyPr wrap="none" lIns="0" tIns="0" rIns="0" bIns="0" rtlCol="0" anchor="t"/>
          <a:lstStyle/>
          <a:p>
            <a:pPr algn="l" indent="0" marL="0">
              <a:lnSpc>
                <a:spcPct val="90000"/>
              </a:lnSpc>
              <a:buNone/>
            </a:pPr>
            <a:r>
              <a:rPr lang="en-US" sz="3200" spc="-64" kern="100" dirty="0">
                <a:solidFill>
                  <a:srgbClr val="000000"/>
                </a:solidFill>
                <a:latin typeface="Krona One" pitchFamily="34" charset="0"/>
                <a:ea typeface="Krona One" pitchFamily="34" charset="-122"/>
                <a:cs typeface="Krona One" pitchFamily="34" charset="-120"/>
              </a:rPr>
              <a:t>Core Features</a:t>
            </a:r>
            <a:endParaRPr lang="en-US" sz="3200" dirty="0"/>
          </a:p>
        </p:txBody>
      </p:sp>
      <p:sp>
        <p:nvSpPr>
          <p:cNvPr id="4" name="Shape 2"/>
          <p:cNvSpPr/>
          <p:nvPr/>
        </p:nvSpPr>
        <p:spPr>
          <a:xfrm>
            <a:off x="507987" y="1398290"/>
            <a:ext cx="5511662" cy="2399605"/>
          </a:xfrm>
          <a:prstGeom prst="roundRect">
            <a:avLst>
              <a:gd name="adj" fmla="val 7145"/>
            </a:avLst>
          </a:prstGeom>
          <a:solidFill>
            <a:srgbClr val="BDE7FF"/>
          </a:solidFill>
          <a:ln/>
        </p:spPr>
      </p:sp>
      <p:pic>
        <p:nvPicPr>
          <p:cNvPr id="5" name="Image 0" descr="preencoded.png">    </p:cNvPr>
          <p:cNvPicPr>
            <a:picLocks noChangeAspect="1"/>
          </p:cNvPicPr>
          <p:nvPr/>
        </p:nvPicPr>
        <p:blipFill>
          <a:blip r:embed="rId1"/>
          <a:stretch>
            <a:fillRect/>
          </a:stretch>
        </p:blipFill>
        <p:spPr>
          <a:xfrm>
            <a:off x="761981" y="1652290"/>
            <a:ext cx="476238" cy="476250"/>
          </a:xfrm>
          <a:prstGeom prst="rect">
            <a:avLst/>
          </a:prstGeom>
        </p:spPr>
      </p:pic>
      <p:sp>
        <p:nvSpPr>
          <p:cNvPr id="6" name="Text 3"/>
          <p:cNvSpPr/>
          <p:nvPr/>
        </p:nvSpPr>
        <p:spPr>
          <a:xfrm>
            <a:off x="761981" y="2255540"/>
            <a:ext cx="5003675"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Concise Notes</a:t>
            </a:r>
            <a:endParaRPr lang="en-US" sz="1800" dirty="0"/>
          </a:p>
        </p:txBody>
      </p:sp>
      <p:sp>
        <p:nvSpPr>
          <p:cNvPr id="7" name="Text 4"/>
          <p:cNvSpPr/>
          <p:nvPr/>
        </p:nvSpPr>
        <p:spPr>
          <a:xfrm>
            <a:off x="761981" y="2668091"/>
            <a:ext cx="5257668" cy="266700"/>
          </a:xfrm>
          <a:prstGeom prst="rect">
            <a:avLst/>
          </a:prstGeom>
          <a:noFill/>
          <a:ln/>
        </p:spPr>
        <p:txBody>
          <a:bodyPr wrap="none" lIns="0" tIns="0" rIns="0" bIns="0" rtlCol="0" anchor="t"/>
          <a:lstStyle/>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High-yield, short summaries of complex lecture topics.</a:t>
            </a:r>
            <a:endParaRPr lang="en-US" sz="1500" dirty="0"/>
          </a:p>
        </p:txBody>
      </p:sp>
      <p:sp>
        <p:nvSpPr>
          <p:cNvPr id="8" name="Shape 5"/>
          <p:cNvSpPr/>
          <p:nvPr/>
        </p:nvSpPr>
        <p:spPr>
          <a:xfrm>
            <a:off x="6172046" y="1398290"/>
            <a:ext cx="5511662" cy="2399605"/>
          </a:xfrm>
          <a:prstGeom prst="roundRect">
            <a:avLst>
              <a:gd name="adj" fmla="val 7145"/>
            </a:avLst>
          </a:prstGeom>
          <a:solidFill>
            <a:srgbClr val="BDE7FF"/>
          </a:solidFill>
          <a:ln/>
        </p:spPr>
      </p:sp>
      <p:sp>
        <p:nvSpPr>
          <p:cNvPr id="9" name="Text 6"/>
          <p:cNvSpPr/>
          <p:nvPr/>
        </p:nvSpPr>
        <p:spPr>
          <a:xfrm>
            <a:off x="6426039" y="1988840"/>
            <a:ext cx="5003675"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Smart Flashcards</a:t>
            </a:r>
            <a:endParaRPr lang="en-US" sz="1800" dirty="0"/>
          </a:p>
        </p:txBody>
      </p:sp>
      <p:sp>
        <p:nvSpPr>
          <p:cNvPr id="10" name="Text 7"/>
          <p:cNvSpPr/>
          <p:nvPr/>
        </p:nvSpPr>
        <p:spPr>
          <a:xfrm>
            <a:off x="6426039" y="2401391"/>
            <a:ext cx="5257668" cy="266700"/>
          </a:xfrm>
          <a:prstGeom prst="rect">
            <a:avLst/>
          </a:prstGeom>
          <a:noFill/>
          <a:ln/>
        </p:spPr>
        <p:txBody>
          <a:bodyPr wrap="none" lIns="0" tIns="0" rIns="0" bIns="0" rtlCol="0" anchor="t"/>
          <a:lstStyle/>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Active recall cards for quick concept revision.</a:t>
            </a:r>
            <a:endParaRPr lang="en-US" sz="1500" dirty="0"/>
          </a:p>
        </p:txBody>
      </p:sp>
      <p:sp>
        <p:nvSpPr>
          <p:cNvPr id="11" name="Shape 8"/>
          <p:cNvSpPr/>
          <p:nvPr/>
        </p:nvSpPr>
        <p:spPr>
          <a:xfrm>
            <a:off x="507987" y="3950295"/>
            <a:ext cx="5511662" cy="2399705"/>
          </a:xfrm>
          <a:prstGeom prst="roundRect">
            <a:avLst>
              <a:gd name="adj" fmla="val 7144"/>
            </a:avLst>
          </a:prstGeom>
          <a:solidFill>
            <a:srgbClr val="BDE7FF"/>
          </a:solidFill>
          <a:ln/>
        </p:spPr>
      </p:sp>
      <p:pic>
        <p:nvPicPr>
          <p:cNvPr id="12" name="Image 1" descr="preencoded.png">    </p:cNvPr>
          <p:cNvPicPr>
            <a:picLocks noChangeAspect="1"/>
          </p:cNvPicPr>
          <p:nvPr/>
        </p:nvPicPr>
        <p:blipFill>
          <a:blip r:embed="rId2"/>
          <a:stretch>
            <a:fillRect/>
          </a:stretch>
        </p:blipFill>
        <p:spPr>
          <a:xfrm>
            <a:off x="761981" y="4204295"/>
            <a:ext cx="476238" cy="476250"/>
          </a:xfrm>
          <a:prstGeom prst="rect">
            <a:avLst/>
          </a:prstGeom>
        </p:spPr>
      </p:pic>
      <p:sp>
        <p:nvSpPr>
          <p:cNvPr id="13" name="Text 9"/>
          <p:cNvSpPr/>
          <p:nvPr/>
        </p:nvSpPr>
        <p:spPr>
          <a:xfrm>
            <a:off x="761981" y="4807545"/>
            <a:ext cx="5003675"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PYQs &amp; Solutions</a:t>
            </a:r>
            <a:endParaRPr lang="en-US" sz="1800" dirty="0"/>
          </a:p>
        </p:txBody>
      </p:sp>
      <p:sp>
        <p:nvSpPr>
          <p:cNvPr id="14" name="Text 10"/>
          <p:cNvSpPr/>
          <p:nvPr/>
        </p:nvSpPr>
        <p:spPr>
          <a:xfrm>
            <a:off x="761981" y="5220097"/>
            <a:ext cx="5003675"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Past year questions with detailed solutions for exam confidence.</a:t>
            </a:r>
            <a:endParaRPr lang="en-US" sz="1500" dirty="0"/>
          </a:p>
        </p:txBody>
      </p:sp>
      <p:sp>
        <p:nvSpPr>
          <p:cNvPr id="15" name="Shape 11"/>
          <p:cNvSpPr/>
          <p:nvPr/>
        </p:nvSpPr>
        <p:spPr>
          <a:xfrm>
            <a:off x="6172046" y="3950295"/>
            <a:ext cx="5511662" cy="2399705"/>
          </a:xfrm>
          <a:prstGeom prst="roundRect">
            <a:avLst>
              <a:gd name="adj" fmla="val 7144"/>
            </a:avLst>
          </a:prstGeom>
          <a:solidFill>
            <a:srgbClr val="0B2345"/>
          </a:solidFill>
          <a:ln/>
        </p:spPr>
      </p:sp>
      <p:pic>
        <p:nvPicPr>
          <p:cNvPr id="16" name="Image 2" descr="preencoded.png">    </p:cNvPr>
          <p:cNvPicPr>
            <a:picLocks noChangeAspect="1"/>
          </p:cNvPicPr>
          <p:nvPr/>
        </p:nvPicPr>
        <p:blipFill>
          <a:blip r:embed="rId3"/>
          <a:stretch>
            <a:fillRect/>
          </a:stretch>
        </p:blipFill>
        <p:spPr>
          <a:xfrm>
            <a:off x="6426039" y="4204295"/>
            <a:ext cx="476238" cy="476250"/>
          </a:xfrm>
          <a:prstGeom prst="rect">
            <a:avLst/>
          </a:prstGeom>
        </p:spPr>
      </p:pic>
      <p:sp>
        <p:nvSpPr>
          <p:cNvPr id="17" name="Text 12"/>
          <p:cNvSpPr/>
          <p:nvPr/>
        </p:nvSpPr>
        <p:spPr>
          <a:xfrm>
            <a:off x="6426039" y="4807545"/>
            <a:ext cx="5003675" cy="269677"/>
          </a:xfrm>
          <a:prstGeom prst="rect">
            <a:avLst/>
          </a:prstGeom>
          <a:noFill/>
          <a:ln/>
        </p:spPr>
        <p:txBody>
          <a:bodyPr wrap="none" lIns="0" tIns="0" rIns="0" bIns="0" rtlCol="0" anchor="t"/>
          <a:lstStyle/>
          <a:p>
            <a:pPr algn="l" indent="0" marL="0">
              <a:lnSpc>
                <a:spcPct val="98000"/>
              </a:lnSpc>
              <a:buNone/>
            </a:pPr>
            <a:r>
              <a:rPr lang="en-US" sz="1800" dirty="0">
                <a:solidFill>
                  <a:srgbClr val="FFFFFF"/>
                </a:solidFill>
                <a:latin typeface="Familjen Grotesk SemiBold" pitchFamily="34" charset="0"/>
                <a:ea typeface="Familjen Grotesk SemiBold" pitchFamily="34" charset="-122"/>
                <a:cs typeface="Familjen Grotesk SemiBold" pitchFamily="34" charset="-120"/>
              </a:rPr>
              <a:t>Custom Resource Ingestion</a:t>
            </a:r>
            <a:endParaRPr lang="en-US" sz="1800" dirty="0"/>
          </a:p>
        </p:txBody>
      </p:sp>
      <p:sp>
        <p:nvSpPr>
          <p:cNvPr id="18" name="Text 13"/>
          <p:cNvSpPr/>
          <p:nvPr/>
        </p:nvSpPr>
        <p:spPr>
          <a:xfrm>
            <a:off x="6426039" y="5220097"/>
            <a:ext cx="5003675"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Familjen Grotesk" pitchFamily="34" charset="0"/>
                <a:ea typeface="Familjen Grotesk" pitchFamily="34" charset="-122"/>
                <a:cs typeface="Familjen Grotesk" pitchFamily="34" charset="-120"/>
              </a:rPr>
              <a:t>Upload personal PDFs, video links, and web links to auto-generate notes, flashcards, and practice questions.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7987" y="508000"/>
            <a:ext cx="11683708"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000000"/>
                </a:solidFill>
                <a:latin typeface="DM Mono Medium" pitchFamily="34" charset="0"/>
                <a:ea typeface="DM Mono Medium" pitchFamily="34" charset="-122"/>
                <a:cs typeface="DM Mono Medium" pitchFamily="34" charset="-120"/>
              </a:rPr>
              <a:t>FUTURE VISION · PROPOSED CAPABILITIES</a:t>
            </a:r>
            <a:endParaRPr lang="en-US" sz="1150" dirty="0"/>
          </a:p>
        </p:txBody>
      </p:sp>
      <p:sp>
        <p:nvSpPr>
          <p:cNvPr id="3" name="Text 1"/>
          <p:cNvSpPr/>
          <p:nvPr/>
        </p:nvSpPr>
        <p:spPr>
          <a:xfrm>
            <a:off x="507987" y="762595"/>
            <a:ext cx="11175720" cy="438845"/>
          </a:xfrm>
          <a:prstGeom prst="rect">
            <a:avLst/>
          </a:prstGeom>
          <a:noFill/>
          <a:ln/>
        </p:spPr>
        <p:txBody>
          <a:bodyPr wrap="none" lIns="0" tIns="0" rIns="0" bIns="0" rtlCol="0" anchor="t"/>
          <a:lstStyle/>
          <a:p>
            <a:pPr algn="l" indent="0" marL="0">
              <a:lnSpc>
                <a:spcPct val="90000"/>
              </a:lnSpc>
              <a:buNone/>
            </a:pPr>
            <a:r>
              <a:rPr lang="en-US" sz="3200" spc="-64" kern="100" dirty="0">
                <a:solidFill>
                  <a:srgbClr val="000000"/>
                </a:solidFill>
                <a:latin typeface="Krona One" pitchFamily="34" charset="0"/>
                <a:ea typeface="Krona One" pitchFamily="34" charset="-122"/>
                <a:cs typeface="Krona One" pitchFamily="34" charset="-120"/>
              </a:rPr>
              <a:t>Future Vision: Hardware &amp; Gamification</a:t>
            </a:r>
            <a:endParaRPr lang="en-US" sz="3200" dirty="0"/>
          </a:p>
        </p:txBody>
      </p:sp>
      <p:sp>
        <p:nvSpPr>
          <p:cNvPr id="4" name="Shape 2"/>
          <p:cNvSpPr/>
          <p:nvPr/>
        </p:nvSpPr>
        <p:spPr>
          <a:xfrm>
            <a:off x="507987" y="1398290"/>
            <a:ext cx="3623577" cy="4951710"/>
          </a:xfrm>
          <a:prstGeom prst="roundRect">
            <a:avLst>
              <a:gd name="adj" fmla="val 4731"/>
            </a:avLst>
          </a:prstGeom>
          <a:solidFill>
            <a:srgbClr val="BDE7FF"/>
          </a:solidFill>
          <a:ln/>
        </p:spPr>
      </p:sp>
      <p:pic>
        <p:nvPicPr>
          <p:cNvPr id="5" name="Image 0" descr="preencoded.png">    </p:cNvPr>
          <p:cNvPicPr>
            <a:picLocks noChangeAspect="1"/>
          </p:cNvPicPr>
          <p:nvPr/>
        </p:nvPicPr>
        <p:blipFill>
          <a:blip r:embed="rId1"/>
          <a:stretch>
            <a:fillRect/>
          </a:stretch>
        </p:blipFill>
        <p:spPr>
          <a:xfrm>
            <a:off x="2081657" y="1703090"/>
            <a:ext cx="476238" cy="476250"/>
          </a:xfrm>
          <a:prstGeom prst="rect">
            <a:avLst/>
          </a:prstGeom>
        </p:spPr>
      </p:pic>
      <p:sp>
        <p:nvSpPr>
          <p:cNvPr id="6" name="Text 3"/>
          <p:cNvSpPr/>
          <p:nvPr/>
        </p:nvSpPr>
        <p:spPr>
          <a:xfrm>
            <a:off x="812780" y="2306340"/>
            <a:ext cx="3013992"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Smart Recording</a:t>
            </a:r>
            <a:endParaRPr lang="en-US" sz="1800" dirty="0"/>
          </a:p>
        </p:txBody>
      </p:sp>
      <p:sp>
        <p:nvSpPr>
          <p:cNvPr id="7" name="Text 4"/>
          <p:cNvSpPr/>
          <p:nvPr/>
        </p:nvSpPr>
        <p:spPr>
          <a:xfrm>
            <a:off x="812780" y="4652963"/>
            <a:ext cx="3013992" cy="8001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Small IoT devices in classrooms record live lectures for absent students.</a:t>
            </a:r>
            <a:endParaRPr lang="en-US" sz="1500" dirty="0"/>
          </a:p>
        </p:txBody>
      </p:sp>
      <p:sp>
        <p:nvSpPr>
          <p:cNvPr id="8" name="Shape 5"/>
          <p:cNvSpPr/>
          <p:nvPr/>
        </p:nvSpPr>
        <p:spPr>
          <a:xfrm>
            <a:off x="812780" y="5626100"/>
            <a:ext cx="994544" cy="31651"/>
          </a:xfrm>
          <a:prstGeom prst="roundRect">
            <a:avLst>
              <a:gd name="adj" fmla="val 49998"/>
            </a:avLst>
          </a:prstGeom>
          <a:solidFill>
            <a:srgbClr val="0B2345"/>
          </a:solidFill>
          <a:ln/>
        </p:spPr>
      </p:sp>
      <p:sp>
        <p:nvSpPr>
          <p:cNvPr id="9" name="Text 6"/>
          <p:cNvSpPr/>
          <p:nvPr/>
        </p:nvSpPr>
        <p:spPr>
          <a:xfrm>
            <a:off x="812780" y="5830888"/>
            <a:ext cx="3318784" cy="214313"/>
          </a:xfrm>
          <a:prstGeom prst="rect">
            <a:avLst/>
          </a:prstGeom>
          <a:noFill/>
          <a:ln/>
        </p:spPr>
        <p:txBody>
          <a:bodyPr wrap="none" lIns="0" tIns="0" rIns="0" bIns="0" rtlCol="0" anchor="t"/>
          <a:lstStyle/>
          <a:p>
            <a:pPr algn="l" indent="0" marL="0">
              <a:lnSpc>
                <a:spcPct val="112000"/>
              </a:lnSpc>
              <a:buNone/>
            </a:pPr>
            <a:r>
              <a:rPr lang="en-US" sz="1250" dirty="0">
                <a:solidFill>
                  <a:srgbClr val="000000"/>
                </a:solidFill>
                <a:latin typeface="Familjen Grotesk" pitchFamily="34" charset="0"/>
                <a:ea typeface="Familjen Grotesk" pitchFamily="34" charset="-122"/>
                <a:cs typeface="Familjen Grotesk" pitchFamily="34" charset="-120"/>
              </a:rPr>
              <a:t>Keep lectures accessible.</a:t>
            </a:r>
            <a:endParaRPr lang="en-US" sz="1250" dirty="0"/>
          </a:p>
        </p:txBody>
      </p:sp>
      <p:sp>
        <p:nvSpPr>
          <p:cNvPr id="10" name="Shape 7"/>
          <p:cNvSpPr/>
          <p:nvPr/>
        </p:nvSpPr>
        <p:spPr>
          <a:xfrm>
            <a:off x="4283960" y="1398290"/>
            <a:ext cx="3623676" cy="4951710"/>
          </a:xfrm>
          <a:prstGeom prst="roundRect">
            <a:avLst>
              <a:gd name="adj" fmla="val 4731"/>
            </a:avLst>
          </a:prstGeom>
          <a:solidFill>
            <a:srgbClr val="BDE7FF"/>
          </a:solidFill>
          <a:ln/>
        </p:spPr>
      </p:sp>
      <p:pic>
        <p:nvPicPr>
          <p:cNvPr id="11" name="Image 1" descr="preencoded.png">    </p:cNvPr>
          <p:cNvPicPr>
            <a:picLocks noChangeAspect="1"/>
          </p:cNvPicPr>
          <p:nvPr/>
        </p:nvPicPr>
        <p:blipFill>
          <a:blip r:embed="rId2"/>
          <a:stretch>
            <a:fillRect/>
          </a:stretch>
        </p:blipFill>
        <p:spPr>
          <a:xfrm>
            <a:off x="5857629" y="1703090"/>
            <a:ext cx="476238" cy="476250"/>
          </a:xfrm>
          <a:prstGeom prst="rect">
            <a:avLst/>
          </a:prstGeom>
        </p:spPr>
      </p:pic>
      <p:sp>
        <p:nvSpPr>
          <p:cNvPr id="12" name="Text 8"/>
          <p:cNvSpPr/>
          <p:nvPr/>
        </p:nvSpPr>
        <p:spPr>
          <a:xfrm>
            <a:off x="4588752" y="2306340"/>
            <a:ext cx="3014091"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Auto Transcripts</a:t>
            </a:r>
            <a:endParaRPr lang="en-US" sz="1800" dirty="0"/>
          </a:p>
        </p:txBody>
      </p:sp>
      <p:sp>
        <p:nvSpPr>
          <p:cNvPr id="13" name="Text 9"/>
          <p:cNvSpPr/>
          <p:nvPr/>
        </p:nvSpPr>
        <p:spPr>
          <a:xfrm>
            <a:off x="4588752" y="4919663"/>
            <a:ext cx="3014091"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AI transcriptions and summaries from classroom recordings.</a:t>
            </a:r>
            <a:endParaRPr lang="en-US" sz="1500" dirty="0"/>
          </a:p>
        </p:txBody>
      </p:sp>
      <p:sp>
        <p:nvSpPr>
          <p:cNvPr id="14" name="Shape 10"/>
          <p:cNvSpPr/>
          <p:nvPr/>
        </p:nvSpPr>
        <p:spPr>
          <a:xfrm>
            <a:off x="4588752" y="5626100"/>
            <a:ext cx="994544" cy="31651"/>
          </a:xfrm>
          <a:prstGeom prst="roundRect">
            <a:avLst>
              <a:gd name="adj" fmla="val 49998"/>
            </a:avLst>
          </a:prstGeom>
          <a:solidFill>
            <a:srgbClr val="0B2345"/>
          </a:solidFill>
          <a:ln/>
        </p:spPr>
      </p:sp>
      <p:sp>
        <p:nvSpPr>
          <p:cNvPr id="15" name="Text 11"/>
          <p:cNvSpPr/>
          <p:nvPr/>
        </p:nvSpPr>
        <p:spPr>
          <a:xfrm>
            <a:off x="4588752" y="5830888"/>
            <a:ext cx="3318883" cy="214313"/>
          </a:xfrm>
          <a:prstGeom prst="rect">
            <a:avLst/>
          </a:prstGeom>
          <a:noFill/>
          <a:ln/>
        </p:spPr>
        <p:txBody>
          <a:bodyPr wrap="none" lIns="0" tIns="0" rIns="0" bIns="0" rtlCol="0" anchor="t"/>
          <a:lstStyle/>
          <a:p>
            <a:pPr algn="l" indent="0" marL="0">
              <a:lnSpc>
                <a:spcPct val="112000"/>
              </a:lnSpc>
              <a:buNone/>
            </a:pPr>
            <a:r>
              <a:rPr lang="en-US" sz="1250" dirty="0">
                <a:solidFill>
                  <a:srgbClr val="000000"/>
                </a:solidFill>
                <a:latin typeface="Familjen Grotesk" pitchFamily="34" charset="0"/>
                <a:ea typeface="Familjen Grotesk" pitchFamily="34" charset="-122"/>
                <a:cs typeface="Familjen Grotesk" pitchFamily="34" charset="-120"/>
              </a:rPr>
              <a:t>Make recordings revisable.</a:t>
            </a:r>
            <a:endParaRPr lang="en-US" sz="1250" dirty="0"/>
          </a:p>
        </p:txBody>
      </p:sp>
      <p:sp>
        <p:nvSpPr>
          <p:cNvPr id="16" name="Shape 12"/>
          <p:cNvSpPr/>
          <p:nvPr/>
        </p:nvSpPr>
        <p:spPr>
          <a:xfrm>
            <a:off x="8060032" y="1398290"/>
            <a:ext cx="3623676" cy="4951710"/>
          </a:xfrm>
          <a:prstGeom prst="roundRect">
            <a:avLst>
              <a:gd name="adj" fmla="val 4731"/>
            </a:avLst>
          </a:prstGeom>
          <a:solidFill>
            <a:srgbClr val="0B2345"/>
          </a:solidFill>
          <a:ln/>
        </p:spPr>
      </p:sp>
      <p:pic>
        <p:nvPicPr>
          <p:cNvPr id="17" name="Image 2" descr="preencoded.png">    </p:cNvPr>
          <p:cNvPicPr>
            <a:picLocks noChangeAspect="1"/>
          </p:cNvPicPr>
          <p:nvPr/>
        </p:nvPicPr>
        <p:blipFill>
          <a:blip r:embed="rId3"/>
          <a:stretch>
            <a:fillRect/>
          </a:stretch>
        </p:blipFill>
        <p:spPr>
          <a:xfrm>
            <a:off x="9633701" y="1703090"/>
            <a:ext cx="476238" cy="476250"/>
          </a:xfrm>
          <a:prstGeom prst="rect">
            <a:avLst/>
          </a:prstGeom>
        </p:spPr>
      </p:pic>
      <p:sp>
        <p:nvSpPr>
          <p:cNvPr id="18" name="Text 13"/>
          <p:cNvSpPr/>
          <p:nvPr/>
        </p:nvSpPr>
        <p:spPr>
          <a:xfrm>
            <a:off x="8364824" y="2306340"/>
            <a:ext cx="3014091" cy="269677"/>
          </a:xfrm>
          <a:prstGeom prst="rect">
            <a:avLst/>
          </a:prstGeom>
          <a:noFill/>
          <a:ln/>
        </p:spPr>
        <p:txBody>
          <a:bodyPr wrap="none" lIns="0" tIns="0" rIns="0" bIns="0" rtlCol="0" anchor="t"/>
          <a:lstStyle/>
          <a:p>
            <a:pPr algn="l" indent="0" marL="0">
              <a:lnSpc>
                <a:spcPct val="98000"/>
              </a:lnSpc>
              <a:buNone/>
            </a:pPr>
            <a:r>
              <a:rPr lang="en-US" sz="1800" dirty="0">
                <a:solidFill>
                  <a:srgbClr val="FFFFFF"/>
                </a:solidFill>
                <a:latin typeface="Familjen Grotesk SemiBold" pitchFamily="34" charset="0"/>
                <a:ea typeface="Familjen Grotesk SemiBold" pitchFamily="34" charset="-122"/>
                <a:cs typeface="Familjen Grotesk SemiBold" pitchFamily="34" charset="-120"/>
              </a:rPr>
              <a:t>Focus Leaderboard</a:t>
            </a:r>
            <a:endParaRPr lang="en-US" sz="1800" dirty="0"/>
          </a:p>
        </p:txBody>
      </p:sp>
      <p:sp>
        <p:nvSpPr>
          <p:cNvPr id="19" name="Text 14"/>
          <p:cNvSpPr/>
          <p:nvPr/>
        </p:nvSpPr>
        <p:spPr>
          <a:xfrm>
            <a:off x="8364824" y="4919663"/>
            <a:ext cx="3014091"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FFFFFF"/>
                </a:solidFill>
                <a:latin typeface="Familjen Grotesk" pitchFamily="34" charset="0"/>
                <a:ea typeface="Familjen Grotesk" pitchFamily="34" charset="-122"/>
                <a:cs typeface="Familjen Grotesk" pitchFamily="34" charset="-120"/>
              </a:rPr>
              <a:t>An engagement dashboard showing top students by focused study hours.</a:t>
            </a:r>
            <a:endParaRPr lang="en-US" sz="1500" dirty="0"/>
          </a:p>
        </p:txBody>
      </p:sp>
      <p:sp>
        <p:nvSpPr>
          <p:cNvPr id="20" name="Shape 15"/>
          <p:cNvSpPr/>
          <p:nvPr/>
        </p:nvSpPr>
        <p:spPr>
          <a:xfrm>
            <a:off x="8364824" y="5626100"/>
            <a:ext cx="994544" cy="31651"/>
          </a:xfrm>
          <a:prstGeom prst="roundRect">
            <a:avLst>
              <a:gd name="adj" fmla="val 49998"/>
            </a:avLst>
          </a:prstGeom>
          <a:solidFill>
            <a:srgbClr val="BDE7FF"/>
          </a:solidFill>
          <a:ln/>
        </p:spPr>
      </p:sp>
      <p:sp>
        <p:nvSpPr>
          <p:cNvPr id="21" name="Text 16"/>
          <p:cNvSpPr/>
          <p:nvPr/>
        </p:nvSpPr>
        <p:spPr>
          <a:xfrm>
            <a:off x="8364824" y="5830888"/>
            <a:ext cx="3318883" cy="214313"/>
          </a:xfrm>
          <a:prstGeom prst="rect">
            <a:avLst/>
          </a:prstGeom>
          <a:noFill/>
          <a:ln/>
        </p:spPr>
        <p:txBody>
          <a:bodyPr wrap="none" lIns="0" tIns="0" rIns="0" bIns="0" rtlCol="0" anchor="t"/>
          <a:lstStyle/>
          <a:p>
            <a:pPr algn="l" indent="0" marL="0">
              <a:lnSpc>
                <a:spcPct val="112000"/>
              </a:lnSpc>
              <a:buNone/>
            </a:pPr>
            <a:r>
              <a:rPr lang="en-US" sz="1250" dirty="0">
                <a:solidFill>
                  <a:srgbClr val="FFFFFF"/>
                </a:solidFill>
                <a:latin typeface="Familjen Grotesk" pitchFamily="34" charset="0"/>
                <a:ea typeface="Familjen Grotesk" pitchFamily="34" charset="-122"/>
                <a:cs typeface="Familjen Grotesk" pitchFamily="34" charset="-120"/>
              </a:rPr>
              <a:t>Recognize focused effort.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7987" y="508000"/>
            <a:ext cx="11683708"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000000"/>
                </a:solidFill>
                <a:latin typeface="DM Mono Medium" pitchFamily="34" charset="0"/>
                <a:ea typeface="DM Mono Medium" pitchFamily="34" charset="-122"/>
                <a:cs typeface="DM Mono Medium" pitchFamily="34" charset="-120"/>
              </a:rPr>
              <a:t>TEAM · PLACEHOLDERS TO COMPLETE</a:t>
            </a:r>
            <a:endParaRPr lang="en-US" sz="1150" dirty="0"/>
          </a:p>
        </p:txBody>
      </p:sp>
      <p:sp>
        <p:nvSpPr>
          <p:cNvPr id="3" name="Text 1"/>
          <p:cNvSpPr/>
          <p:nvPr/>
        </p:nvSpPr>
        <p:spPr>
          <a:xfrm>
            <a:off x="507987" y="762595"/>
            <a:ext cx="11175720" cy="438845"/>
          </a:xfrm>
          <a:prstGeom prst="rect">
            <a:avLst/>
          </a:prstGeom>
          <a:noFill/>
          <a:ln/>
        </p:spPr>
        <p:txBody>
          <a:bodyPr wrap="none" lIns="0" tIns="0" rIns="0" bIns="0" rtlCol="0" anchor="t"/>
          <a:lstStyle/>
          <a:p>
            <a:pPr algn="l" indent="0" marL="0">
              <a:lnSpc>
                <a:spcPct val="90000"/>
              </a:lnSpc>
              <a:buNone/>
            </a:pPr>
            <a:r>
              <a:rPr lang="en-US" sz="3200" spc="-64" kern="100" dirty="0">
                <a:solidFill>
                  <a:srgbClr val="000000"/>
                </a:solidFill>
                <a:latin typeface="Krona One" pitchFamily="34" charset="0"/>
                <a:ea typeface="Krona One" pitchFamily="34" charset="-122"/>
                <a:cs typeface="Krona One" pitchFamily="34" charset="-120"/>
              </a:rPr>
              <a:t>The Minds Behind BMC Academia</a:t>
            </a:r>
            <a:endParaRPr lang="en-US" sz="3200" dirty="0"/>
          </a:p>
        </p:txBody>
      </p:sp>
      <p:sp>
        <p:nvSpPr>
          <p:cNvPr id="4" name="Shape 2"/>
          <p:cNvSpPr/>
          <p:nvPr/>
        </p:nvSpPr>
        <p:spPr>
          <a:xfrm>
            <a:off x="507987" y="1398290"/>
            <a:ext cx="2679633" cy="4559598"/>
          </a:xfrm>
          <a:prstGeom prst="roundRect">
            <a:avLst>
              <a:gd name="adj" fmla="val 6398"/>
            </a:avLst>
          </a:prstGeom>
          <a:solidFill>
            <a:srgbClr val="BDE7FF"/>
          </a:solidFill>
          <a:ln/>
        </p:spPr>
      </p:sp>
      <p:pic>
        <p:nvPicPr>
          <p:cNvPr id="5" name="Image 0" descr="preencoded.png">    </p:cNvPr>
          <p:cNvPicPr>
            <a:picLocks noChangeAspect="1"/>
          </p:cNvPicPr>
          <p:nvPr/>
        </p:nvPicPr>
        <p:blipFill>
          <a:blip r:embed="rId1"/>
          <a:stretch>
            <a:fillRect/>
          </a:stretch>
        </p:blipFill>
        <p:spPr>
          <a:xfrm>
            <a:off x="507987" y="1398290"/>
            <a:ext cx="2679633" cy="2735759"/>
          </a:xfrm>
          <a:prstGeom prst="rect">
            <a:avLst/>
          </a:prstGeom>
        </p:spPr>
      </p:pic>
      <p:sp>
        <p:nvSpPr>
          <p:cNvPr id="6" name="Text 3"/>
          <p:cNvSpPr/>
          <p:nvPr/>
        </p:nvSpPr>
        <p:spPr>
          <a:xfrm>
            <a:off x="685783" y="4311848"/>
            <a:ext cx="2324042"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[Name 1]</a:t>
            </a:r>
            <a:endParaRPr lang="en-US" sz="1800" dirty="0"/>
          </a:p>
        </p:txBody>
      </p:sp>
      <p:sp>
        <p:nvSpPr>
          <p:cNvPr id="7" name="Text 4"/>
          <p:cNvSpPr/>
          <p:nvPr/>
        </p:nvSpPr>
        <p:spPr>
          <a:xfrm>
            <a:off x="685783" y="4724400"/>
            <a:ext cx="2324042" cy="914400"/>
          </a:xfrm>
          <a:prstGeom prst="rect">
            <a:avLst/>
          </a:prstGeom>
          <a:noFill/>
          <a:ln/>
        </p:spPr>
        <p:txBody>
          <a:bodyPr wrap="square" lIns="0" tIns="0" rIns="0" bIns="0" rtlCol="0" anchor="t"/>
          <a:lstStyle/>
          <a:p>
            <a:pPr algn="l" indent="0" marL="0">
              <a:lnSpc>
                <a:spcPct val="117000"/>
              </a:lnSpc>
              <a:spcAft>
                <a:spcPts val="850"/>
              </a:spcAft>
              <a:buNone/>
            </a:pPr>
            <a:r>
              <a:rPr lang="en-US" sz="1500" b="1" dirty="0">
                <a:solidFill>
                  <a:srgbClr val="000000"/>
                </a:solidFill>
                <a:latin typeface="Familjen Grotesk Bold" pitchFamily="34" charset="0"/>
                <a:ea typeface="Familjen Grotesk Bold" pitchFamily="34" charset="-122"/>
                <a:cs typeface="Familjen Grotesk Bold" pitchFamily="34" charset="-120"/>
              </a:rPr>
              <a:t>[Role]</a:t>
            </a:r>
            <a:endParaRPr lang="en-US" sz="1500" dirty="0"/>
          </a:p>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[Contribution to BMC Academia]</a:t>
            </a:r>
            <a:endParaRPr lang="en-US" sz="1500" dirty="0"/>
          </a:p>
        </p:txBody>
      </p:sp>
      <p:sp>
        <p:nvSpPr>
          <p:cNvPr id="8" name="Shape 5"/>
          <p:cNvSpPr/>
          <p:nvPr/>
        </p:nvSpPr>
        <p:spPr>
          <a:xfrm>
            <a:off x="3340016" y="1398290"/>
            <a:ext cx="2679633" cy="4559598"/>
          </a:xfrm>
          <a:prstGeom prst="roundRect">
            <a:avLst>
              <a:gd name="adj" fmla="val 6398"/>
            </a:avLst>
          </a:prstGeom>
          <a:solidFill>
            <a:srgbClr val="BDE7FF"/>
          </a:solidFill>
          <a:ln/>
        </p:spPr>
      </p:sp>
      <p:pic>
        <p:nvPicPr>
          <p:cNvPr id="9" name="Image 1" descr="preencoded.png">    </p:cNvPr>
          <p:cNvPicPr>
            <a:picLocks noChangeAspect="1"/>
          </p:cNvPicPr>
          <p:nvPr/>
        </p:nvPicPr>
        <p:blipFill>
          <a:blip r:embed="rId2"/>
          <a:stretch>
            <a:fillRect/>
          </a:stretch>
        </p:blipFill>
        <p:spPr>
          <a:xfrm>
            <a:off x="3340016" y="1398290"/>
            <a:ext cx="2679633" cy="2735759"/>
          </a:xfrm>
          <a:prstGeom prst="rect">
            <a:avLst/>
          </a:prstGeom>
        </p:spPr>
      </p:pic>
      <p:sp>
        <p:nvSpPr>
          <p:cNvPr id="10" name="Text 6"/>
          <p:cNvSpPr/>
          <p:nvPr/>
        </p:nvSpPr>
        <p:spPr>
          <a:xfrm>
            <a:off x="3517812" y="4311848"/>
            <a:ext cx="2324042"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[Name 2]</a:t>
            </a:r>
            <a:endParaRPr lang="en-US" sz="1800" dirty="0"/>
          </a:p>
        </p:txBody>
      </p:sp>
      <p:sp>
        <p:nvSpPr>
          <p:cNvPr id="11" name="Text 7"/>
          <p:cNvSpPr/>
          <p:nvPr/>
        </p:nvSpPr>
        <p:spPr>
          <a:xfrm>
            <a:off x="3517812" y="4724400"/>
            <a:ext cx="2324042" cy="914400"/>
          </a:xfrm>
          <a:prstGeom prst="rect">
            <a:avLst/>
          </a:prstGeom>
          <a:noFill/>
          <a:ln/>
        </p:spPr>
        <p:txBody>
          <a:bodyPr wrap="square" lIns="0" tIns="0" rIns="0" bIns="0" rtlCol="0" anchor="t"/>
          <a:lstStyle/>
          <a:p>
            <a:pPr algn="l" indent="0" marL="0">
              <a:lnSpc>
                <a:spcPct val="117000"/>
              </a:lnSpc>
              <a:spcAft>
                <a:spcPts val="850"/>
              </a:spcAft>
              <a:buNone/>
            </a:pPr>
            <a:r>
              <a:rPr lang="en-US" sz="1500" b="1" dirty="0">
                <a:solidFill>
                  <a:srgbClr val="000000"/>
                </a:solidFill>
                <a:latin typeface="Familjen Grotesk Bold" pitchFamily="34" charset="0"/>
                <a:ea typeface="Familjen Grotesk Bold" pitchFamily="34" charset="-122"/>
                <a:cs typeface="Familjen Grotesk Bold" pitchFamily="34" charset="-120"/>
              </a:rPr>
              <a:t>[Role]</a:t>
            </a:r>
            <a:endParaRPr lang="en-US" sz="1500" dirty="0"/>
          </a:p>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[Contribution to BMC Academia]</a:t>
            </a:r>
            <a:endParaRPr lang="en-US" sz="1500" dirty="0"/>
          </a:p>
        </p:txBody>
      </p:sp>
      <p:sp>
        <p:nvSpPr>
          <p:cNvPr id="12" name="Shape 8"/>
          <p:cNvSpPr/>
          <p:nvPr/>
        </p:nvSpPr>
        <p:spPr>
          <a:xfrm>
            <a:off x="6172046" y="1398290"/>
            <a:ext cx="2679633" cy="4559598"/>
          </a:xfrm>
          <a:prstGeom prst="roundRect">
            <a:avLst>
              <a:gd name="adj" fmla="val 6398"/>
            </a:avLst>
          </a:prstGeom>
          <a:solidFill>
            <a:srgbClr val="BDE7FF"/>
          </a:solidFill>
          <a:ln/>
        </p:spPr>
      </p:sp>
      <p:pic>
        <p:nvPicPr>
          <p:cNvPr id="13" name="Image 2" descr="preencoded.png">    </p:cNvPr>
          <p:cNvPicPr>
            <a:picLocks noChangeAspect="1"/>
          </p:cNvPicPr>
          <p:nvPr/>
        </p:nvPicPr>
        <p:blipFill>
          <a:blip r:embed="rId3"/>
          <a:stretch>
            <a:fillRect/>
          </a:stretch>
        </p:blipFill>
        <p:spPr>
          <a:xfrm>
            <a:off x="6172046" y="1398290"/>
            <a:ext cx="2679633" cy="2735759"/>
          </a:xfrm>
          <a:prstGeom prst="rect">
            <a:avLst/>
          </a:prstGeom>
        </p:spPr>
      </p:pic>
      <p:sp>
        <p:nvSpPr>
          <p:cNvPr id="14" name="Text 9"/>
          <p:cNvSpPr/>
          <p:nvPr/>
        </p:nvSpPr>
        <p:spPr>
          <a:xfrm>
            <a:off x="6349841" y="4311848"/>
            <a:ext cx="2324042"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[Name 3]</a:t>
            </a:r>
            <a:endParaRPr lang="en-US" sz="1800" dirty="0"/>
          </a:p>
        </p:txBody>
      </p:sp>
      <p:sp>
        <p:nvSpPr>
          <p:cNvPr id="15" name="Text 10"/>
          <p:cNvSpPr/>
          <p:nvPr/>
        </p:nvSpPr>
        <p:spPr>
          <a:xfrm>
            <a:off x="6349841" y="4724400"/>
            <a:ext cx="2324042" cy="914400"/>
          </a:xfrm>
          <a:prstGeom prst="rect">
            <a:avLst/>
          </a:prstGeom>
          <a:noFill/>
          <a:ln/>
        </p:spPr>
        <p:txBody>
          <a:bodyPr wrap="square" lIns="0" tIns="0" rIns="0" bIns="0" rtlCol="0" anchor="t"/>
          <a:lstStyle/>
          <a:p>
            <a:pPr algn="l" indent="0" marL="0">
              <a:lnSpc>
                <a:spcPct val="117000"/>
              </a:lnSpc>
              <a:spcAft>
                <a:spcPts val="850"/>
              </a:spcAft>
              <a:buNone/>
            </a:pPr>
            <a:r>
              <a:rPr lang="en-US" sz="1500" b="1" dirty="0">
                <a:solidFill>
                  <a:srgbClr val="000000"/>
                </a:solidFill>
                <a:latin typeface="Familjen Grotesk Bold" pitchFamily="34" charset="0"/>
                <a:ea typeface="Familjen Grotesk Bold" pitchFamily="34" charset="-122"/>
                <a:cs typeface="Familjen Grotesk Bold" pitchFamily="34" charset="-120"/>
              </a:rPr>
              <a:t>[Role]</a:t>
            </a:r>
            <a:endParaRPr lang="en-US" sz="1500" dirty="0"/>
          </a:p>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[Contribution to BMC Academia]</a:t>
            </a:r>
            <a:endParaRPr lang="en-US" sz="1500" dirty="0"/>
          </a:p>
        </p:txBody>
      </p:sp>
      <p:sp>
        <p:nvSpPr>
          <p:cNvPr id="16" name="Shape 11"/>
          <p:cNvSpPr/>
          <p:nvPr/>
        </p:nvSpPr>
        <p:spPr>
          <a:xfrm>
            <a:off x="9004075" y="1398290"/>
            <a:ext cx="2679633" cy="4559598"/>
          </a:xfrm>
          <a:prstGeom prst="roundRect">
            <a:avLst>
              <a:gd name="adj" fmla="val 6398"/>
            </a:avLst>
          </a:prstGeom>
          <a:solidFill>
            <a:srgbClr val="BDE7FF"/>
          </a:solidFill>
          <a:ln/>
        </p:spPr>
      </p:sp>
      <p:pic>
        <p:nvPicPr>
          <p:cNvPr id="17" name="Image 3" descr="preencoded.png">    </p:cNvPr>
          <p:cNvPicPr>
            <a:picLocks noChangeAspect="1"/>
          </p:cNvPicPr>
          <p:nvPr/>
        </p:nvPicPr>
        <p:blipFill>
          <a:blip r:embed="rId4"/>
          <a:stretch>
            <a:fillRect/>
          </a:stretch>
        </p:blipFill>
        <p:spPr>
          <a:xfrm>
            <a:off x="9004075" y="1398290"/>
            <a:ext cx="2679633" cy="2735759"/>
          </a:xfrm>
          <a:prstGeom prst="rect">
            <a:avLst/>
          </a:prstGeom>
        </p:spPr>
      </p:pic>
      <p:sp>
        <p:nvSpPr>
          <p:cNvPr id="18" name="Text 12"/>
          <p:cNvSpPr/>
          <p:nvPr/>
        </p:nvSpPr>
        <p:spPr>
          <a:xfrm>
            <a:off x="9181870" y="4311848"/>
            <a:ext cx="2324042" cy="269677"/>
          </a:xfrm>
          <a:prstGeom prst="rect">
            <a:avLst/>
          </a:prstGeom>
          <a:noFill/>
          <a:ln/>
        </p:spPr>
        <p:txBody>
          <a:bodyPr wrap="none" lIns="0" tIns="0" rIns="0" bIns="0" rtlCol="0" anchor="t"/>
          <a:lstStyle/>
          <a:p>
            <a:pPr algn="l" indent="0" marL="0">
              <a:lnSpc>
                <a:spcPct val="98000"/>
              </a:lnSpc>
              <a:buNone/>
            </a:pPr>
            <a:r>
              <a:rPr lang="en-US" sz="1800" dirty="0">
                <a:solidFill>
                  <a:srgbClr val="000000"/>
                </a:solidFill>
                <a:latin typeface="Familjen Grotesk SemiBold" pitchFamily="34" charset="0"/>
                <a:ea typeface="Familjen Grotesk SemiBold" pitchFamily="34" charset="-122"/>
                <a:cs typeface="Familjen Grotesk SemiBold" pitchFamily="34" charset="-120"/>
              </a:rPr>
              <a:t>[Name 4]</a:t>
            </a:r>
            <a:endParaRPr lang="en-US" sz="1800" dirty="0"/>
          </a:p>
        </p:txBody>
      </p:sp>
      <p:sp>
        <p:nvSpPr>
          <p:cNvPr id="19" name="Text 13"/>
          <p:cNvSpPr/>
          <p:nvPr/>
        </p:nvSpPr>
        <p:spPr>
          <a:xfrm>
            <a:off x="9181870" y="4724400"/>
            <a:ext cx="2324042" cy="914400"/>
          </a:xfrm>
          <a:prstGeom prst="rect">
            <a:avLst/>
          </a:prstGeom>
          <a:noFill/>
          <a:ln/>
        </p:spPr>
        <p:txBody>
          <a:bodyPr wrap="square" lIns="0" tIns="0" rIns="0" bIns="0" rtlCol="0" anchor="t"/>
          <a:lstStyle/>
          <a:p>
            <a:pPr algn="l" indent="0" marL="0">
              <a:lnSpc>
                <a:spcPct val="117000"/>
              </a:lnSpc>
              <a:spcAft>
                <a:spcPts val="850"/>
              </a:spcAft>
              <a:buNone/>
            </a:pPr>
            <a:r>
              <a:rPr lang="en-US" sz="1500" b="1" dirty="0">
                <a:solidFill>
                  <a:srgbClr val="000000"/>
                </a:solidFill>
                <a:latin typeface="Familjen Grotesk Bold" pitchFamily="34" charset="0"/>
                <a:ea typeface="Familjen Grotesk Bold" pitchFamily="34" charset="-122"/>
                <a:cs typeface="Familjen Grotesk Bold" pitchFamily="34" charset="-120"/>
              </a:rPr>
              <a:t>[Role]</a:t>
            </a:r>
            <a:endParaRPr lang="en-US" sz="1500" dirty="0"/>
          </a:p>
          <a:p>
            <a:pPr algn="l" indent="0" marL="0">
              <a:lnSpc>
                <a:spcPct val="117000"/>
              </a:lnSpc>
              <a:buNone/>
            </a:pPr>
            <a:r>
              <a:rPr lang="en-US" sz="1500" dirty="0">
                <a:solidFill>
                  <a:srgbClr val="000000"/>
                </a:solidFill>
                <a:latin typeface="Familjen Grotesk" pitchFamily="34" charset="0"/>
                <a:ea typeface="Familjen Grotesk" pitchFamily="34" charset="-122"/>
                <a:cs typeface="Familjen Grotesk" pitchFamily="34" charset="-120"/>
              </a:rPr>
              <a:t>[Contribution to BMC Academia]</a:t>
            </a:r>
            <a:endParaRPr lang="en-US" sz="1500" dirty="0"/>
          </a:p>
        </p:txBody>
      </p:sp>
      <p:sp>
        <p:nvSpPr>
          <p:cNvPr id="20" name="Text 14"/>
          <p:cNvSpPr/>
          <p:nvPr/>
        </p:nvSpPr>
        <p:spPr>
          <a:xfrm>
            <a:off x="507987" y="6135688"/>
            <a:ext cx="11683708" cy="214313"/>
          </a:xfrm>
          <a:prstGeom prst="rect">
            <a:avLst/>
          </a:prstGeom>
          <a:noFill/>
          <a:ln/>
        </p:spPr>
        <p:txBody>
          <a:bodyPr wrap="none" lIns="0" tIns="0" rIns="0" bIns="0" rtlCol="0" anchor="t"/>
          <a:lstStyle/>
          <a:p>
            <a:pPr algn="l" indent="0" marL="0">
              <a:lnSpc>
                <a:spcPct val="112000"/>
              </a:lnSpc>
              <a:buNone/>
            </a:pPr>
            <a:r>
              <a:rPr lang="en-US" sz="1250" dirty="0">
                <a:solidFill>
                  <a:srgbClr val="000000"/>
                </a:solidFill>
                <a:latin typeface="Familjen Grotesk" pitchFamily="34" charset="0"/>
                <a:ea typeface="Familjen Grotesk" pitchFamily="34" charset="-122"/>
                <a:cs typeface="Familjen Grotesk" pitchFamily="34" charset="-120"/>
              </a:rPr>
              <a:t>Profile slots are illustrative. Replace with confirmed names, roles, contributions, and individual photographs.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7987" y="508000"/>
            <a:ext cx="11683708" cy="175220"/>
          </a:xfrm>
          <a:prstGeom prst="rect">
            <a:avLst/>
          </a:prstGeom>
          <a:noFill/>
          <a:ln/>
        </p:spPr>
        <p:txBody>
          <a:bodyPr wrap="none" lIns="0" tIns="0" rIns="0" bIns="0" rtlCol="0" anchor="t"/>
          <a:lstStyle/>
          <a:p>
            <a:pPr algn="l" indent="0" marL="0">
              <a:lnSpc>
                <a:spcPct val="100000"/>
              </a:lnSpc>
              <a:buNone/>
            </a:pPr>
            <a:r>
              <a:rPr lang="en-US" sz="1150" spc="46" kern="100" dirty="0">
                <a:solidFill>
                  <a:srgbClr val="000000"/>
                </a:solidFill>
                <a:latin typeface="DM Mono Medium" pitchFamily="34" charset="0"/>
                <a:ea typeface="DM Mono Medium" pitchFamily="34" charset="-122"/>
                <a:cs typeface="DM Mono Medium" pitchFamily="34" charset="-120"/>
              </a:rPr>
              <a:t>BMC ACADEMIA · OPEN DISCUSSION</a:t>
            </a:r>
            <a:endParaRPr lang="en-US" sz="1150" dirty="0"/>
          </a:p>
        </p:txBody>
      </p:sp>
      <p:sp>
        <p:nvSpPr>
          <p:cNvPr id="3" name="Shape 1"/>
          <p:cNvSpPr/>
          <p:nvPr/>
        </p:nvSpPr>
        <p:spPr>
          <a:xfrm>
            <a:off x="507987" y="861020"/>
            <a:ext cx="11175720" cy="5488980"/>
          </a:xfrm>
          <a:prstGeom prst="roundRect">
            <a:avLst>
              <a:gd name="adj" fmla="val 3123"/>
            </a:avLst>
          </a:prstGeom>
          <a:solidFill>
            <a:srgbClr val="0B2345"/>
          </a:solidFill>
          <a:ln/>
        </p:spPr>
      </p:sp>
      <p:sp>
        <p:nvSpPr>
          <p:cNvPr id="4" name="Text 2"/>
          <p:cNvSpPr/>
          <p:nvPr/>
        </p:nvSpPr>
        <p:spPr>
          <a:xfrm>
            <a:off x="1015975" y="2525514"/>
            <a:ext cx="10159746" cy="1373584"/>
          </a:xfrm>
          <a:prstGeom prst="rect">
            <a:avLst/>
          </a:prstGeom>
          <a:noFill/>
          <a:ln/>
        </p:spPr>
        <p:txBody>
          <a:bodyPr wrap="square" lIns="0" tIns="0" rIns="0" bIns="0" rtlCol="0" anchor="t">
            <a:normAutofit/>
          </a:bodyPr>
          <a:lstStyle/>
          <a:p>
            <a:pPr algn="l" indent="0" marL="0">
              <a:lnSpc>
                <a:spcPct val="87000"/>
              </a:lnSpc>
              <a:buNone/>
            </a:pPr>
            <a:r>
              <a:rPr lang="en-US" sz="5200" spc="-156" kern="100" dirty="0">
                <a:solidFill>
                  <a:srgbClr val="FFFFFF"/>
                </a:solidFill>
                <a:latin typeface="Krona One" pitchFamily="34" charset="0"/>
                <a:ea typeface="Krona One" pitchFamily="34" charset="-122"/>
                <a:cs typeface="Krona One" pitchFamily="34" charset="-120"/>
              </a:rPr>
              <a:t>Thank You</a:t>
            </a:r>
            <a:endParaRPr lang="en-US" sz="5200" dirty="0"/>
          </a:p>
          <a:p>
            <a:pPr algn="l" indent="0" marL="0">
              <a:lnSpc>
                <a:spcPct val="87000"/>
              </a:lnSpc>
              <a:buNone/>
            </a:pPr>
            <a:r>
              <a:rPr lang="en-US" sz="5200" spc="-156" kern="100" dirty="0">
                <a:solidFill>
                  <a:srgbClr val="FFFFFF"/>
                </a:solidFill>
                <a:latin typeface="Krona One" pitchFamily="34" charset="0"/>
                <a:ea typeface="Krona One" pitchFamily="34" charset="-122"/>
                <a:cs typeface="Krona One" pitchFamily="34" charset="-120"/>
              </a:rPr>
              <a:t>&amp; Q&amp;A</a:t>
            </a:r>
            <a:endParaRPr lang="en-US" sz="5200" dirty="0"/>
          </a:p>
        </p:txBody>
      </p:sp>
      <p:sp>
        <p:nvSpPr>
          <p:cNvPr id="5" name="Text 3"/>
          <p:cNvSpPr/>
          <p:nvPr/>
        </p:nvSpPr>
        <p:spPr>
          <a:xfrm>
            <a:off x="1015975" y="4095948"/>
            <a:ext cx="10667733" cy="319980"/>
          </a:xfrm>
          <a:prstGeom prst="rect">
            <a:avLst/>
          </a:prstGeom>
          <a:noFill/>
          <a:ln/>
        </p:spPr>
        <p:txBody>
          <a:bodyPr wrap="none" lIns="0" tIns="0" rIns="0" bIns="0" rtlCol="0" anchor="t"/>
          <a:lstStyle/>
          <a:p>
            <a:pPr algn="l" indent="0" marL="0">
              <a:lnSpc>
                <a:spcPct val="117000"/>
              </a:lnSpc>
              <a:buNone/>
            </a:pPr>
            <a:r>
              <a:rPr lang="en-US" sz="1800" dirty="0">
                <a:solidFill>
                  <a:srgbClr val="FFFFFF"/>
                </a:solidFill>
                <a:latin typeface="Familjen Grotesk" pitchFamily="34" charset="0"/>
                <a:ea typeface="Familjen Grotesk" pitchFamily="34" charset="-122"/>
                <a:cs typeface="Familjen Grotesk" pitchFamily="34" charset="-120"/>
              </a:rPr>
              <a:t>The floor is open for questions and feedback from judges, faculty, and the audience.</a:t>
            </a:r>
            <a:endParaRPr lang="en-US" sz="1800" dirty="0"/>
          </a:p>
        </p:txBody>
      </p:sp>
      <p:sp>
        <p:nvSpPr>
          <p:cNvPr id="6" name="Text 4"/>
          <p:cNvSpPr/>
          <p:nvPr/>
        </p:nvSpPr>
        <p:spPr>
          <a:xfrm>
            <a:off x="1015975" y="5572423"/>
            <a:ext cx="10159746" cy="269677"/>
          </a:xfrm>
          <a:prstGeom prst="rect">
            <a:avLst/>
          </a:prstGeom>
          <a:noFill/>
          <a:ln/>
        </p:spPr>
        <p:txBody>
          <a:bodyPr wrap="none" lIns="0" tIns="0" rIns="0" bIns="0" rtlCol="0" anchor="t"/>
          <a:lstStyle/>
          <a:p>
            <a:pPr algn="l" indent="0" marL="0">
              <a:lnSpc>
                <a:spcPct val="98000"/>
              </a:lnSpc>
              <a:buNone/>
            </a:pPr>
            <a:r>
              <a:rPr lang="en-US" sz="1800" dirty="0">
                <a:solidFill>
                  <a:srgbClr val="FFFFFF"/>
                </a:solidFill>
                <a:latin typeface="Familjen Grotesk SemiBold" pitchFamily="34" charset="0"/>
                <a:ea typeface="Familjen Grotesk SemiBold" pitchFamily="34" charset="-122"/>
                <a:cs typeface="Familjen Grotesk SemiBold" pitchFamily="34" charset="-120"/>
              </a:rPr>
              <a:t>Which learning challenge should BMC Academia address first?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2026-10-05T16:09:15Z</dcterms:created>
  <dcterms:modified xsi:type="dcterms:W3CDTF">2026-10-05T16:09:15Z</dcterms:modified>
</cp:coreProperties>
</file>